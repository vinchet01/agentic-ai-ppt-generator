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">
            <a:extLst>
              <a:ext uri="{FF2B5EF4-FFF2-40B4-BE49-F238E27FC236}">
                <a16:creationId xmlns:a16="http://schemas.microsoft.com/office/drawing/2014/main" id="{68F43B52-1B45-4C34-8475-5DF70371FDD0}"/>
              </a:ext>
            </a:extLst>
          </p:cNvPr>
          <p:cNvSpPr txBox="1"/>
          <p:nvPr/>
        </p:nvSpPr>
        <p:spPr>
          <a:xfrm>
            <a:off x="925688" y="2630311"/>
            <a:ext cx="1067928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The Battle of Giants: Swiggy vs Zomato - A Deep Dive into India's Food Delivery Wars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171;p32">
            <a:extLst>
              <a:ext uri="{FF2B5EF4-FFF2-40B4-BE49-F238E27FC236}">
                <a16:creationId xmlns:a16="http://schemas.microsoft.com/office/drawing/2014/main" id="{9ACD8CA5-4451-4ED5-B63B-DFEF44E87616}"/>
              </a:ext>
            </a:extLst>
          </p:cNvPr>
          <p:cNvSpPr txBox="1">
            <a:spLocks/>
          </p:cNvSpPr>
          <p:nvPr/>
        </p:nvSpPr>
        <p:spPr>
          <a:xfrm>
            <a:off x="5394900" y="1801287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01</a:t>
            </a:r>
          </a:p>
        </p:txBody>
      </p:sp>
      <p:sp>
        <p:nvSpPr>
          <p:cNvPr id="3" name="Google Shape;173;p32">
            <a:extLst>
              <a:ext uri="{FF2B5EF4-FFF2-40B4-BE49-F238E27FC236}">
                <a16:creationId xmlns:a16="http://schemas.microsoft.com/office/drawing/2014/main" id="{21EBBC7F-3BF9-411A-AC9F-280CDA1EBF71}"/>
              </a:ext>
            </a:extLst>
          </p:cNvPr>
          <p:cNvSpPr txBox="1">
            <a:spLocks/>
          </p:cNvSpPr>
          <p:nvPr/>
        </p:nvSpPr>
        <p:spPr>
          <a:xfrm>
            <a:off x="5392252" y="51744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03</a:t>
            </a:r>
          </a:p>
        </p:txBody>
      </p:sp>
      <p:cxnSp>
        <p:nvCxnSpPr>
          <p:cNvPr id="4" name="Google Shape;178;p32">
            <a:extLst>
              <a:ext uri="{FF2B5EF4-FFF2-40B4-BE49-F238E27FC236}">
                <a16:creationId xmlns:a16="http://schemas.microsoft.com/office/drawing/2014/main" id="{4D0AF5DD-3304-47B9-9DBD-552A0C712BFC}"/>
              </a:ext>
            </a:extLst>
          </p:cNvPr>
          <p:cNvCxnSpPr>
            <a:cxnSpLocks/>
          </p:cNvCxnSpPr>
          <p:nvPr/>
        </p:nvCxnSpPr>
        <p:spPr>
          <a:xfrm>
            <a:off x="5243772" y="1237405"/>
            <a:ext cx="0" cy="5448907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Google Shape;179;p32">
            <a:extLst>
              <a:ext uri="{FF2B5EF4-FFF2-40B4-BE49-F238E27FC236}">
                <a16:creationId xmlns:a16="http://schemas.microsoft.com/office/drawing/2014/main" id="{08C8FDE0-2039-417A-8014-7FD5C8720338}"/>
              </a:ext>
            </a:extLst>
          </p:cNvPr>
          <p:cNvCxnSpPr/>
          <p:nvPr/>
        </p:nvCxnSpPr>
        <p:spPr>
          <a:xfrm rot="10800000">
            <a:off x="4888884" y="2069642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80;p32">
            <a:extLst>
              <a:ext uri="{FF2B5EF4-FFF2-40B4-BE49-F238E27FC236}">
                <a16:creationId xmlns:a16="http://schemas.microsoft.com/office/drawing/2014/main" id="{9C247B9B-3CE8-4CA5-BC6D-ED5951DC35A0}"/>
              </a:ext>
            </a:extLst>
          </p:cNvPr>
          <p:cNvCxnSpPr/>
          <p:nvPr/>
        </p:nvCxnSpPr>
        <p:spPr>
          <a:xfrm rot="10800000">
            <a:off x="5243772" y="3757261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Google Shape;181;p32">
            <a:extLst>
              <a:ext uri="{FF2B5EF4-FFF2-40B4-BE49-F238E27FC236}">
                <a16:creationId xmlns:a16="http://schemas.microsoft.com/office/drawing/2014/main" id="{B99263AB-A4F5-4E49-AE7F-761BDE140E7D}"/>
              </a:ext>
            </a:extLst>
          </p:cNvPr>
          <p:cNvCxnSpPr/>
          <p:nvPr/>
        </p:nvCxnSpPr>
        <p:spPr>
          <a:xfrm rot="10800000">
            <a:off x="4847631" y="5455878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173;p32">
            <a:extLst>
              <a:ext uri="{FF2B5EF4-FFF2-40B4-BE49-F238E27FC236}">
                <a16:creationId xmlns:a16="http://schemas.microsoft.com/office/drawing/2014/main" id="{59DC8F83-EC2B-4C3F-8303-4E92717D5388}"/>
              </a:ext>
            </a:extLst>
          </p:cNvPr>
          <p:cNvSpPr txBox="1">
            <a:spLocks/>
          </p:cNvSpPr>
          <p:nvPr/>
        </p:nvSpPr>
        <p:spPr>
          <a:xfrm>
            <a:off x="4137794" y="35295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02</a:t>
            </a:r>
          </a:p>
        </p:txBody>
      </p:sp>
      <p:sp>
        <p:nvSpPr>
          <p:cNvPr id="9" name="content3">
            <a:extLst>
              <a:ext uri="{FF2B5EF4-FFF2-40B4-BE49-F238E27FC236}">
                <a16:creationId xmlns:a16="http://schemas.microsoft.com/office/drawing/2014/main" id="{87510014-2DBF-4A05-807A-5F40DAB03A54}"/>
              </a:ext>
            </a:extLst>
          </p:cNvPr>
          <p:cNvSpPr txBox="1"/>
          <p:nvPr/>
        </p:nvSpPr>
        <p:spPr>
          <a:xfrm>
            <a:off x="737805" y="5355452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The competitive landscape has evolved, with Zomato's acquisition of Uber Eats India and expansion into tier 2/3 cities contributing to its market dominance, while Swiggy focuses on service quality and innovation to recover market share.</a:t>
            </a:r>
          </a:p>
        </p:txBody>
      </p:sp>
      <p:sp>
        <p:nvSpPr>
          <p:cNvPr id="10" name="head3">
            <a:extLst>
              <a:ext uri="{FF2B5EF4-FFF2-40B4-BE49-F238E27FC236}">
                <a16:creationId xmlns:a16="http://schemas.microsoft.com/office/drawing/2014/main" id="{4CDE91AD-7D68-479F-B878-760D6B57DF98}"/>
              </a:ext>
            </a:extLst>
          </p:cNvPr>
          <p:cNvSpPr txBox="1"/>
          <p:nvPr/>
        </p:nvSpPr>
        <p:spPr>
          <a:xfrm>
            <a:off x="737805" y="4770677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Strategic Outcomes</a:t>
            </a:r>
          </a:p>
        </p:txBody>
      </p:sp>
      <p:sp>
        <p:nvSpPr>
          <p:cNvPr id="11" name="content2">
            <a:extLst>
              <a:ext uri="{FF2B5EF4-FFF2-40B4-BE49-F238E27FC236}">
                <a16:creationId xmlns:a16="http://schemas.microsoft.com/office/drawing/2014/main" id="{5DFB1118-D534-4F23-8272-FB69C2E9049D}"/>
              </a:ext>
            </a:extLst>
          </p:cNvPr>
          <p:cNvSpPr txBox="1"/>
          <p:nvPr/>
        </p:nvSpPr>
        <p:spPr>
          <a:xfrm>
            <a:off x="5968367" y="3751471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Both companies have experienced significant growth, but Zomato's IPO in July 2021 provided it with a capital advantage, allowing for aggressive customer acquisition and expansion strategies.</a:t>
            </a:r>
          </a:p>
        </p:txBody>
      </p:sp>
      <p:sp>
        <p:nvSpPr>
          <p:cNvPr id="12" name="head2">
            <a:extLst>
              <a:ext uri="{FF2B5EF4-FFF2-40B4-BE49-F238E27FC236}">
                <a16:creationId xmlns:a16="http://schemas.microsoft.com/office/drawing/2014/main" id="{3E071FFE-7960-4952-BF3A-0FE9A5FDB4EA}"/>
              </a:ext>
            </a:extLst>
          </p:cNvPr>
          <p:cNvSpPr txBox="1"/>
          <p:nvPr/>
        </p:nvSpPr>
        <p:spPr>
          <a:xfrm>
            <a:off x="5968367" y="3166696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Growth Trajectories</a:t>
            </a:r>
          </a:p>
        </p:txBody>
      </p:sp>
      <p:sp>
        <p:nvSpPr>
          <p:cNvPr id="13" name="content1">
            <a:extLst>
              <a:ext uri="{FF2B5EF4-FFF2-40B4-BE49-F238E27FC236}">
                <a16:creationId xmlns:a16="http://schemas.microsoft.com/office/drawing/2014/main" id="{0D56670D-A85A-448F-818D-6D415FB1A2AD}"/>
              </a:ext>
            </a:extLst>
          </p:cNvPr>
          <p:cNvSpPr txBox="1"/>
          <p:nvPr/>
        </p:nvSpPr>
        <p:spPr>
          <a:xfrm>
            <a:off x="737805" y="2098358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Zomato and Swiggy dominate the Indian food delivery market, with Zomato holding a 58% market share and Swiggy at 42%. Zomato's recent profitability in FY24 contrasts with Swiggy's ongoing losses, highlighting the competitive dynamics at play.</a:t>
            </a:r>
          </a:p>
        </p:txBody>
      </p:sp>
      <p:sp>
        <p:nvSpPr>
          <p:cNvPr id="14" name="head1">
            <a:extLst>
              <a:ext uri="{FF2B5EF4-FFF2-40B4-BE49-F238E27FC236}">
                <a16:creationId xmlns:a16="http://schemas.microsoft.com/office/drawing/2014/main" id="{9A4C4650-475C-4F06-912B-7A535409FDDC}"/>
              </a:ext>
            </a:extLst>
          </p:cNvPr>
          <p:cNvSpPr txBox="1"/>
          <p:nvPr/>
        </p:nvSpPr>
        <p:spPr>
          <a:xfrm>
            <a:off x="737805" y="1513583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Market Positioning</a:t>
            </a:r>
          </a:p>
        </p:txBody>
      </p:sp>
      <p:sp>
        <p:nvSpPr>
          <p:cNvPr id="15" name="subtopic">
            <a:extLst>
              <a:ext uri="{FF2B5EF4-FFF2-40B4-BE49-F238E27FC236}">
                <a16:creationId xmlns:a16="http://schemas.microsoft.com/office/drawing/2014/main" id="{0817A346-3588-46F6-9A91-768330515E36}"/>
              </a:ext>
            </a:extLst>
          </p:cNvPr>
          <p:cNvSpPr txBox="1"/>
          <p:nvPr/>
        </p:nvSpPr>
        <p:spPr>
          <a:xfrm>
            <a:off x="318052" y="209886"/>
            <a:ext cx="10880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The Competitive Landscape: Understanding the Rise of Swiggy and Zomato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171;p32">
            <a:extLst>
              <a:ext uri="{FF2B5EF4-FFF2-40B4-BE49-F238E27FC236}">
                <a16:creationId xmlns:a16="http://schemas.microsoft.com/office/drawing/2014/main" id="{9ACD8CA5-4451-4ED5-B63B-DFEF44E87616}"/>
              </a:ext>
            </a:extLst>
          </p:cNvPr>
          <p:cNvSpPr txBox="1">
            <a:spLocks/>
          </p:cNvSpPr>
          <p:nvPr/>
        </p:nvSpPr>
        <p:spPr>
          <a:xfrm>
            <a:off x="5394900" y="1801287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01</a:t>
            </a:r>
          </a:p>
        </p:txBody>
      </p:sp>
      <p:sp>
        <p:nvSpPr>
          <p:cNvPr id="3" name="Google Shape;173;p32">
            <a:extLst>
              <a:ext uri="{FF2B5EF4-FFF2-40B4-BE49-F238E27FC236}">
                <a16:creationId xmlns:a16="http://schemas.microsoft.com/office/drawing/2014/main" id="{21EBBC7F-3BF9-411A-AC9F-280CDA1EBF71}"/>
              </a:ext>
            </a:extLst>
          </p:cNvPr>
          <p:cNvSpPr txBox="1">
            <a:spLocks/>
          </p:cNvSpPr>
          <p:nvPr/>
        </p:nvSpPr>
        <p:spPr>
          <a:xfrm>
            <a:off x="5392252" y="51744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03</a:t>
            </a:r>
          </a:p>
        </p:txBody>
      </p:sp>
      <p:cxnSp>
        <p:nvCxnSpPr>
          <p:cNvPr id="4" name="Google Shape;178;p32">
            <a:extLst>
              <a:ext uri="{FF2B5EF4-FFF2-40B4-BE49-F238E27FC236}">
                <a16:creationId xmlns:a16="http://schemas.microsoft.com/office/drawing/2014/main" id="{4D0AF5DD-3304-47B9-9DBD-552A0C712BFC}"/>
              </a:ext>
            </a:extLst>
          </p:cNvPr>
          <p:cNvCxnSpPr>
            <a:cxnSpLocks/>
          </p:cNvCxnSpPr>
          <p:nvPr/>
        </p:nvCxnSpPr>
        <p:spPr>
          <a:xfrm>
            <a:off x="5243772" y="1237405"/>
            <a:ext cx="0" cy="5448907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Google Shape;179;p32">
            <a:extLst>
              <a:ext uri="{FF2B5EF4-FFF2-40B4-BE49-F238E27FC236}">
                <a16:creationId xmlns:a16="http://schemas.microsoft.com/office/drawing/2014/main" id="{08C8FDE0-2039-417A-8014-7FD5C8720338}"/>
              </a:ext>
            </a:extLst>
          </p:cNvPr>
          <p:cNvCxnSpPr/>
          <p:nvPr/>
        </p:nvCxnSpPr>
        <p:spPr>
          <a:xfrm rot="10800000">
            <a:off x="4888884" y="2069642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80;p32">
            <a:extLst>
              <a:ext uri="{FF2B5EF4-FFF2-40B4-BE49-F238E27FC236}">
                <a16:creationId xmlns:a16="http://schemas.microsoft.com/office/drawing/2014/main" id="{9C247B9B-3CE8-4CA5-BC6D-ED5951DC35A0}"/>
              </a:ext>
            </a:extLst>
          </p:cNvPr>
          <p:cNvCxnSpPr/>
          <p:nvPr/>
        </p:nvCxnSpPr>
        <p:spPr>
          <a:xfrm rot="10800000">
            <a:off x="5243772" y="3757261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Google Shape;181;p32">
            <a:extLst>
              <a:ext uri="{FF2B5EF4-FFF2-40B4-BE49-F238E27FC236}">
                <a16:creationId xmlns:a16="http://schemas.microsoft.com/office/drawing/2014/main" id="{B99263AB-A4F5-4E49-AE7F-761BDE140E7D}"/>
              </a:ext>
            </a:extLst>
          </p:cNvPr>
          <p:cNvCxnSpPr/>
          <p:nvPr/>
        </p:nvCxnSpPr>
        <p:spPr>
          <a:xfrm rot="10800000">
            <a:off x="4847631" y="5455878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173;p32">
            <a:extLst>
              <a:ext uri="{FF2B5EF4-FFF2-40B4-BE49-F238E27FC236}">
                <a16:creationId xmlns:a16="http://schemas.microsoft.com/office/drawing/2014/main" id="{59DC8F83-EC2B-4C3F-8303-4E92717D5388}"/>
              </a:ext>
            </a:extLst>
          </p:cNvPr>
          <p:cNvSpPr txBox="1">
            <a:spLocks/>
          </p:cNvSpPr>
          <p:nvPr/>
        </p:nvSpPr>
        <p:spPr>
          <a:xfrm>
            <a:off x="4137794" y="35295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02</a:t>
            </a:r>
          </a:p>
        </p:txBody>
      </p:sp>
      <p:sp>
        <p:nvSpPr>
          <p:cNvPr id="9" name="content3">
            <a:extLst>
              <a:ext uri="{FF2B5EF4-FFF2-40B4-BE49-F238E27FC236}">
                <a16:creationId xmlns:a16="http://schemas.microsoft.com/office/drawing/2014/main" id="{87510014-2DBF-4A05-807A-5F40DAB03A54}"/>
              </a:ext>
            </a:extLst>
          </p:cNvPr>
          <p:cNvSpPr txBox="1"/>
          <p:nvPr/>
        </p:nvSpPr>
        <p:spPr>
          <a:xfrm>
            <a:off x="737805" y="5355452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Analysts predict that Swiggy's focus on innovation and service quality may help it close the gap further, potentially reaching 42% by Q1 2025.</a:t>
            </a:r>
          </a:p>
        </p:txBody>
      </p:sp>
      <p:sp>
        <p:nvSpPr>
          <p:cNvPr id="10" name="head3">
            <a:extLst>
              <a:ext uri="{FF2B5EF4-FFF2-40B4-BE49-F238E27FC236}">
                <a16:creationId xmlns:a16="http://schemas.microsoft.com/office/drawing/2014/main" id="{4CDE91AD-7D68-479F-B878-760D6B57DF98}"/>
              </a:ext>
            </a:extLst>
          </p:cNvPr>
          <p:cNvSpPr txBox="1"/>
          <p:nvPr/>
        </p:nvSpPr>
        <p:spPr>
          <a:xfrm>
            <a:off x="737805" y="4770677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Future Projections</a:t>
            </a:r>
          </a:p>
        </p:txBody>
      </p:sp>
      <p:sp>
        <p:nvSpPr>
          <p:cNvPr id="11" name="content2">
            <a:extLst>
              <a:ext uri="{FF2B5EF4-FFF2-40B4-BE49-F238E27FC236}">
                <a16:creationId xmlns:a16="http://schemas.microsoft.com/office/drawing/2014/main" id="{5DFB1118-D534-4F23-8272-FB69C2E9049D}"/>
              </a:ext>
            </a:extLst>
          </p:cNvPr>
          <p:cNvSpPr txBox="1"/>
          <p:nvPr/>
        </p:nvSpPr>
        <p:spPr>
          <a:xfrm>
            <a:off x="5968367" y="3751471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The gap between Zomato and Swiggy widened in 2023, with Zomato at 55% and Swiggy at 37%. However, Swiggy has shown signs of recovery, regaining some market share to reach 40% in 2024.</a:t>
            </a:r>
          </a:p>
        </p:txBody>
      </p:sp>
      <p:sp>
        <p:nvSpPr>
          <p:cNvPr id="12" name="head2">
            <a:extLst>
              <a:ext uri="{FF2B5EF4-FFF2-40B4-BE49-F238E27FC236}">
                <a16:creationId xmlns:a16="http://schemas.microsoft.com/office/drawing/2014/main" id="{3E071FFE-7960-4952-BF3A-0FE9A5FDB4EA}"/>
              </a:ext>
            </a:extLst>
          </p:cNvPr>
          <p:cNvSpPr txBox="1"/>
          <p:nvPr/>
        </p:nvSpPr>
        <p:spPr>
          <a:xfrm>
            <a:off x="5968367" y="3166696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Recent Trends</a:t>
            </a:r>
          </a:p>
        </p:txBody>
      </p:sp>
      <p:sp>
        <p:nvSpPr>
          <p:cNvPr id="13" name="content1">
            <a:extLst>
              <a:ext uri="{FF2B5EF4-FFF2-40B4-BE49-F238E27FC236}">
                <a16:creationId xmlns:a16="http://schemas.microsoft.com/office/drawing/2014/main" id="{0D56670D-A85A-448F-818D-6D415FB1A2AD}"/>
              </a:ext>
            </a:extLst>
          </p:cNvPr>
          <p:cNvSpPr txBox="1"/>
          <p:nvPr/>
        </p:nvSpPr>
        <p:spPr>
          <a:xfrm>
            <a:off x="737805" y="2098358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In 2020, both companies had nearly equal market shares of around 45%. However, Zomato's strategic moves have allowed it to increase its share significantly, reaching 58% by 2024.</a:t>
            </a:r>
          </a:p>
        </p:txBody>
      </p:sp>
      <p:sp>
        <p:nvSpPr>
          <p:cNvPr id="14" name="head1">
            <a:extLst>
              <a:ext uri="{FF2B5EF4-FFF2-40B4-BE49-F238E27FC236}">
                <a16:creationId xmlns:a16="http://schemas.microsoft.com/office/drawing/2014/main" id="{9A4C4650-475C-4F06-912B-7A535409FDDC}"/>
              </a:ext>
            </a:extLst>
          </p:cNvPr>
          <p:cNvSpPr txBox="1"/>
          <p:nvPr/>
        </p:nvSpPr>
        <p:spPr>
          <a:xfrm>
            <a:off x="737805" y="1513583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Historical Market Share</a:t>
            </a:r>
          </a:p>
        </p:txBody>
      </p:sp>
      <p:sp>
        <p:nvSpPr>
          <p:cNvPr id="15" name="subtopic">
            <a:extLst>
              <a:ext uri="{FF2B5EF4-FFF2-40B4-BE49-F238E27FC236}">
                <a16:creationId xmlns:a16="http://schemas.microsoft.com/office/drawing/2014/main" id="{0817A346-3588-46F6-9A91-768330515E36}"/>
              </a:ext>
            </a:extLst>
          </p:cNvPr>
          <p:cNvSpPr txBox="1"/>
          <p:nvPr/>
        </p:nvSpPr>
        <p:spPr>
          <a:xfrm>
            <a:off x="318052" y="209886"/>
            <a:ext cx="10880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Market Share Dynamics: Zomato's Dominance vs. Swiggy's Recovery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171;p32">
            <a:extLst>
              <a:ext uri="{FF2B5EF4-FFF2-40B4-BE49-F238E27FC236}">
                <a16:creationId xmlns:a16="http://schemas.microsoft.com/office/drawing/2014/main" id="{9ACD8CA5-4451-4ED5-B63B-DFEF44E87616}"/>
              </a:ext>
            </a:extLst>
          </p:cNvPr>
          <p:cNvSpPr txBox="1">
            <a:spLocks/>
          </p:cNvSpPr>
          <p:nvPr/>
        </p:nvSpPr>
        <p:spPr>
          <a:xfrm>
            <a:off x="5394900" y="1801287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01</a:t>
            </a:r>
          </a:p>
        </p:txBody>
      </p:sp>
      <p:sp>
        <p:nvSpPr>
          <p:cNvPr id="3" name="Google Shape;173;p32">
            <a:extLst>
              <a:ext uri="{FF2B5EF4-FFF2-40B4-BE49-F238E27FC236}">
                <a16:creationId xmlns:a16="http://schemas.microsoft.com/office/drawing/2014/main" id="{21EBBC7F-3BF9-411A-AC9F-280CDA1EBF71}"/>
              </a:ext>
            </a:extLst>
          </p:cNvPr>
          <p:cNvSpPr txBox="1">
            <a:spLocks/>
          </p:cNvSpPr>
          <p:nvPr/>
        </p:nvSpPr>
        <p:spPr>
          <a:xfrm>
            <a:off x="5392252" y="51744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03</a:t>
            </a:r>
          </a:p>
        </p:txBody>
      </p:sp>
      <p:cxnSp>
        <p:nvCxnSpPr>
          <p:cNvPr id="4" name="Google Shape;178;p32">
            <a:extLst>
              <a:ext uri="{FF2B5EF4-FFF2-40B4-BE49-F238E27FC236}">
                <a16:creationId xmlns:a16="http://schemas.microsoft.com/office/drawing/2014/main" id="{4D0AF5DD-3304-47B9-9DBD-552A0C712BFC}"/>
              </a:ext>
            </a:extLst>
          </p:cNvPr>
          <p:cNvCxnSpPr>
            <a:cxnSpLocks/>
          </p:cNvCxnSpPr>
          <p:nvPr/>
        </p:nvCxnSpPr>
        <p:spPr>
          <a:xfrm>
            <a:off x="5243772" y="1237405"/>
            <a:ext cx="0" cy="5448907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Google Shape;179;p32">
            <a:extLst>
              <a:ext uri="{FF2B5EF4-FFF2-40B4-BE49-F238E27FC236}">
                <a16:creationId xmlns:a16="http://schemas.microsoft.com/office/drawing/2014/main" id="{08C8FDE0-2039-417A-8014-7FD5C8720338}"/>
              </a:ext>
            </a:extLst>
          </p:cNvPr>
          <p:cNvCxnSpPr/>
          <p:nvPr/>
        </p:nvCxnSpPr>
        <p:spPr>
          <a:xfrm rot="10800000">
            <a:off x="4888884" y="2069642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80;p32">
            <a:extLst>
              <a:ext uri="{FF2B5EF4-FFF2-40B4-BE49-F238E27FC236}">
                <a16:creationId xmlns:a16="http://schemas.microsoft.com/office/drawing/2014/main" id="{9C247B9B-3CE8-4CA5-BC6D-ED5951DC35A0}"/>
              </a:ext>
            </a:extLst>
          </p:cNvPr>
          <p:cNvCxnSpPr/>
          <p:nvPr/>
        </p:nvCxnSpPr>
        <p:spPr>
          <a:xfrm rot="10800000">
            <a:off x="5243772" y="3757261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Google Shape;181;p32">
            <a:extLst>
              <a:ext uri="{FF2B5EF4-FFF2-40B4-BE49-F238E27FC236}">
                <a16:creationId xmlns:a16="http://schemas.microsoft.com/office/drawing/2014/main" id="{B99263AB-A4F5-4E49-AE7F-761BDE140E7D}"/>
              </a:ext>
            </a:extLst>
          </p:cNvPr>
          <p:cNvCxnSpPr/>
          <p:nvPr/>
        </p:nvCxnSpPr>
        <p:spPr>
          <a:xfrm rot="10800000">
            <a:off x="4847631" y="5455878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173;p32">
            <a:extLst>
              <a:ext uri="{FF2B5EF4-FFF2-40B4-BE49-F238E27FC236}">
                <a16:creationId xmlns:a16="http://schemas.microsoft.com/office/drawing/2014/main" id="{59DC8F83-EC2B-4C3F-8303-4E92717D5388}"/>
              </a:ext>
            </a:extLst>
          </p:cNvPr>
          <p:cNvSpPr txBox="1">
            <a:spLocks/>
          </p:cNvSpPr>
          <p:nvPr/>
        </p:nvSpPr>
        <p:spPr>
          <a:xfrm>
            <a:off x="4137794" y="35295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02</a:t>
            </a:r>
          </a:p>
        </p:txBody>
      </p:sp>
      <p:sp>
        <p:nvSpPr>
          <p:cNvPr id="9" name="content3">
            <a:extLst>
              <a:ext uri="{FF2B5EF4-FFF2-40B4-BE49-F238E27FC236}">
                <a16:creationId xmlns:a16="http://schemas.microsoft.com/office/drawing/2014/main" id="{87510014-2DBF-4A05-807A-5F40DAB03A54}"/>
              </a:ext>
            </a:extLst>
          </p:cNvPr>
          <p:cNvSpPr txBox="1"/>
          <p:nvPr/>
        </p:nvSpPr>
        <p:spPr>
          <a:xfrm>
            <a:off x="737805" y="5355452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Zomato's market capitalization stands at ₹2.5 lakh crore, while Swiggy's is at ₹72,000 crore, indicating a stark contrast in financial health and investor confidence.</a:t>
            </a:r>
          </a:p>
        </p:txBody>
      </p:sp>
      <p:sp>
        <p:nvSpPr>
          <p:cNvPr id="10" name="head3">
            <a:extLst>
              <a:ext uri="{FF2B5EF4-FFF2-40B4-BE49-F238E27FC236}">
                <a16:creationId xmlns:a16="http://schemas.microsoft.com/office/drawing/2014/main" id="{4CDE91AD-7D68-479F-B878-760D6B57DF98}"/>
              </a:ext>
            </a:extLst>
          </p:cNvPr>
          <p:cNvSpPr txBox="1"/>
          <p:nvPr/>
        </p:nvSpPr>
        <p:spPr>
          <a:xfrm>
            <a:off x="737805" y="4770677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Market Capitalization</a:t>
            </a:r>
          </a:p>
        </p:txBody>
      </p:sp>
      <p:sp>
        <p:nvSpPr>
          <p:cNvPr id="11" name="content2">
            <a:extLst>
              <a:ext uri="{FF2B5EF4-FFF2-40B4-BE49-F238E27FC236}">
                <a16:creationId xmlns:a16="http://schemas.microsoft.com/office/drawing/2014/main" id="{5DFB1118-D534-4F23-8272-FB69C2E9049D}"/>
              </a:ext>
            </a:extLst>
          </p:cNvPr>
          <p:cNvSpPr txBox="1"/>
          <p:nvPr/>
        </p:nvSpPr>
        <p:spPr>
          <a:xfrm>
            <a:off x="5968367" y="3751471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Swiggy has made significant strides in reducing its losses, achieving a 43% reduction in FY24 and a 26% year-over-year growth in Gross Order Value (GOV) for its quick commerce business.</a:t>
            </a:r>
          </a:p>
        </p:txBody>
      </p:sp>
      <p:sp>
        <p:nvSpPr>
          <p:cNvPr id="12" name="head2">
            <a:extLst>
              <a:ext uri="{FF2B5EF4-FFF2-40B4-BE49-F238E27FC236}">
                <a16:creationId xmlns:a16="http://schemas.microsoft.com/office/drawing/2014/main" id="{3E071FFE-7960-4952-BF3A-0FE9A5FDB4EA}"/>
              </a:ext>
            </a:extLst>
          </p:cNvPr>
          <p:cNvSpPr txBox="1"/>
          <p:nvPr/>
        </p:nvSpPr>
        <p:spPr>
          <a:xfrm>
            <a:off x="5968367" y="3166696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Loss Reduction</a:t>
            </a:r>
          </a:p>
        </p:txBody>
      </p:sp>
      <p:sp>
        <p:nvSpPr>
          <p:cNvPr id="13" name="content1">
            <a:extLst>
              <a:ext uri="{FF2B5EF4-FFF2-40B4-BE49-F238E27FC236}">
                <a16:creationId xmlns:a16="http://schemas.microsoft.com/office/drawing/2014/main" id="{0D56670D-A85A-448F-818D-6D415FB1A2AD}"/>
              </a:ext>
            </a:extLst>
          </p:cNvPr>
          <p:cNvSpPr txBox="1"/>
          <p:nvPr/>
        </p:nvSpPr>
        <p:spPr>
          <a:xfrm>
            <a:off x="737805" y="2098358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Zomato has demonstrated a superior revenue CAGR of 45% compared to Swiggy's 35% from FY22 to FY24, reflecting its effective growth strategies.</a:t>
            </a:r>
          </a:p>
        </p:txBody>
      </p:sp>
      <p:sp>
        <p:nvSpPr>
          <p:cNvPr id="14" name="head1">
            <a:extLst>
              <a:ext uri="{FF2B5EF4-FFF2-40B4-BE49-F238E27FC236}">
                <a16:creationId xmlns:a16="http://schemas.microsoft.com/office/drawing/2014/main" id="{9A4C4650-475C-4F06-912B-7A535409FDDC}"/>
              </a:ext>
            </a:extLst>
          </p:cNvPr>
          <p:cNvSpPr txBox="1"/>
          <p:nvPr/>
        </p:nvSpPr>
        <p:spPr>
          <a:xfrm>
            <a:off x="737805" y="1513583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Revenue Growth</a:t>
            </a:r>
          </a:p>
        </p:txBody>
      </p:sp>
      <p:sp>
        <p:nvSpPr>
          <p:cNvPr id="15" name="subtopic">
            <a:extLst>
              <a:ext uri="{FF2B5EF4-FFF2-40B4-BE49-F238E27FC236}">
                <a16:creationId xmlns:a16="http://schemas.microsoft.com/office/drawing/2014/main" id="{0817A346-3588-46F6-9A91-768330515E36}"/>
              </a:ext>
            </a:extLst>
          </p:cNvPr>
          <p:cNvSpPr txBox="1"/>
          <p:nvPr/>
        </p:nvSpPr>
        <p:spPr>
          <a:xfrm>
            <a:off x="318052" y="209886"/>
            <a:ext cx="10880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Financial Performance: Profitability Trends and Growth Metrics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171;p32">
            <a:extLst>
              <a:ext uri="{FF2B5EF4-FFF2-40B4-BE49-F238E27FC236}">
                <a16:creationId xmlns:a16="http://schemas.microsoft.com/office/drawing/2014/main" id="{9ACD8CA5-4451-4ED5-B63B-DFEF44E87616}"/>
              </a:ext>
            </a:extLst>
          </p:cNvPr>
          <p:cNvSpPr txBox="1">
            <a:spLocks/>
          </p:cNvSpPr>
          <p:nvPr/>
        </p:nvSpPr>
        <p:spPr>
          <a:xfrm>
            <a:off x="5394900" y="1801287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01</a:t>
            </a:r>
          </a:p>
        </p:txBody>
      </p:sp>
      <p:sp>
        <p:nvSpPr>
          <p:cNvPr id="3" name="Google Shape;173;p32">
            <a:extLst>
              <a:ext uri="{FF2B5EF4-FFF2-40B4-BE49-F238E27FC236}">
                <a16:creationId xmlns:a16="http://schemas.microsoft.com/office/drawing/2014/main" id="{21EBBC7F-3BF9-411A-AC9F-280CDA1EBF71}"/>
              </a:ext>
            </a:extLst>
          </p:cNvPr>
          <p:cNvSpPr txBox="1">
            <a:spLocks/>
          </p:cNvSpPr>
          <p:nvPr/>
        </p:nvSpPr>
        <p:spPr>
          <a:xfrm>
            <a:off x="5392252" y="51744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03</a:t>
            </a:r>
          </a:p>
        </p:txBody>
      </p:sp>
      <p:cxnSp>
        <p:nvCxnSpPr>
          <p:cNvPr id="4" name="Google Shape;178;p32">
            <a:extLst>
              <a:ext uri="{FF2B5EF4-FFF2-40B4-BE49-F238E27FC236}">
                <a16:creationId xmlns:a16="http://schemas.microsoft.com/office/drawing/2014/main" id="{4D0AF5DD-3304-47B9-9DBD-552A0C712BFC}"/>
              </a:ext>
            </a:extLst>
          </p:cNvPr>
          <p:cNvCxnSpPr>
            <a:cxnSpLocks/>
          </p:cNvCxnSpPr>
          <p:nvPr/>
        </p:nvCxnSpPr>
        <p:spPr>
          <a:xfrm>
            <a:off x="5243772" y="1237405"/>
            <a:ext cx="0" cy="5448907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Google Shape;179;p32">
            <a:extLst>
              <a:ext uri="{FF2B5EF4-FFF2-40B4-BE49-F238E27FC236}">
                <a16:creationId xmlns:a16="http://schemas.microsoft.com/office/drawing/2014/main" id="{08C8FDE0-2039-417A-8014-7FD5C8720338}"/>
              </a:ext>
            </a:extLst>
          </p:cNvPr>
          <p:cNvCxnSpPr/>
          <p:nvPr/>
        </p:nvCxnSpPr>
        <p:spPr>
          <a:xfrm rot="10800000">
            <a:off x="4888884" y="2069642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80;p32">
            <a:extLst>
              <a:ext uri="{FF2B5EF4-FFF2-40B4-BE49-F238E27FC236}">
                <a16:creationId xmlns:a16="http://schemas.microsoft.com/office/drawing/2014/main" id="{9C247B9B-3CE8-4CA5-BC6D-ED5951DC35A0}"/>
              </a:ext>
            </a:extLst>
          </p:cNvPr>
          <p:cNvCxnSpPr/>
          <p:nvPr/>
        </p:nvCxnSpPr>
        <p:spPr>
          <a:xfrm rot="10800000">
            <a:off x="5243772" y="3757261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Google Shape;181;p32">
            <a:extLst>
              <a:ext uri="{FF2B5EF4-FFF2-40B4-BE49-F238E27FC236}">
                <a16:creationId xmlns:a16="http://schemas.microsoft.com/office/drawing/2014/main" id="{B99263AB-A4F5-4E49-AE7F-761BDE140E7D}"/>
              </a:ext>
            </a:extLst>
          </p:cNvPr>
          <p:cNvCxnSpPr/>
          <p:nvPr/>
        </p:nvCxnSpPr>
        <p:spPr>
          <a:xfrm rot="10800000">
            <a:off x="4847631" y="5455878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173;p32">
            <a:extLst>
              <a:ext uri="{FF2B5EF4-FFF2-40B4-BE49-F238E27FC236}">
                <a16:creationId xmlns:a16="http://schemas.microsoft.com/office/drawing/2014/main" id="{59DC8F83-EC2B-4C3F-8303-4E92717D5388}"/>
              </a:ext>
            </a:extLst>
          </p:cNvPr>
          <p:cNvSpPr txBox="1">
            <a:spLocks/>
          </p:cNvSpPr>
          <p:nvPr/>
        </p:nvSpPr>
        <p:spPr>
          <a:xfrm>
            <a:off x="4137794" y="35295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02</a:t>
            </a:r>
          </a:p>
        </p:txBody>
      </p:sp>
      <p:sp>
        <p:nvSpPr>
          <p:cNvPr id="9" name="content3">
            <a:extLst>
              <a:ext uri="{FF2B5EF4-FFF2-40B4-BE49-F238E27FC236}">
                <a16:creationId xmlns:a16="http://schemas.microsoft.com/office/drawing/2014/main" id="{87510014-2DBF-4A05-807A-5F40DAB03A54}"/>
              </a:ext>
            </a:extLst>
          </p:cNvPr>
          <p:cNvSpPr txBox="1"/>
          <p:nvPr/>
        </p:nvSpPr>
        <p:spPr>
          <a:xfrm>
            <a:off x="737805" y="5355452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The perception of quality and reliability plays a significant role in customer preferences, with Zomato currently leading in this aspect due to its comprehensive service offerings.</a:t>
            </a:r>
          </a:p>
        </p:txBody>
      </p:sp>
      <p:sp>
        <p:nvSpPr>
          <p:cNvPr id="10" name="head3">
            <a:extLst>
              <a:ext uri="{FF2B5EF4-FFF2-40B4-BE49-F238E27FC236}">
                <a16:creationId xmlns:a16="http://schemas.microsoft.com/office/drawing/2014/main" id="{4CDE91AD-7D68-479F-B878-760D6B57DF98}"/>
              </a:ext>
            </a:extLst>
          </p:cNvPr>
          <p:cNvSpPr txBox="1"/>
          <p:nvPr/>
        </p:nvSpPr>
        <p:spPr>
          <a:xfrm>
            <a:off x="737805" y="4770677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Market Perception</a:t>
            </a:r>
          </a:p>
        </p:txBody>
      </p:sp>
      <p:sp>
        <p:nvSpPr>
          <p:cNvPr id="11" name="content2">
            <a:extLst>
              <a:ext uri="{FF2B5EF4-FFF2-40B4-BE49-F238E27FC236}">
                <a16:creationId xmlns:a16="http://schemas.microsoft.com/office/drawing/2014/main" id="{5DFB1118-D534-4F23-8272-FB69C2E9049D}"/>
              </a:ext>
            </a:extLst>
          </p:cNvPr>
          <p:cNvSpPr txBox="1"/>
          <p:nvPr/>
        </p:nvSpPr>
        <p:spPr>
          <a:xfrm>
            <a:off x="5968367" y="3751471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Swiggy's focus on service quality and innovations like Swiggy Bolt aims to improve customer satisfaction and retention, crucial for competing with Zomato's established user base.</a:t>
            </a:r>
          </a:p>
        </p:txBody>
      </p:sp>
      <p:sp>
        <p:nvSpPr>
          <p:cNvPr id="12" name="head2">
            <a:extLst>
              <a:ext uri="{FF2B5EF4-FFF2-40B4-BE49-F238E27FC236}">
                <a16:creationId xmlns:a16="http://schemas.microsoft.com/office/drawing/2014/main" id="{3E071FFE-7960-4952-BF3A-0FE9A5FDB4EA}"/>
              </a:ext>
            </a:extLst>
          </p:cNvPr>
          <p:cNvSpPr txBox="1"/>
          <p:nvPr/>
        </p:nvSpPr>
        <p:spPr>
          <a:xfrm>
            <a:off x="5968367" y="3166696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Service Quality</a:t>
            </a:r>
          </a:p>
        </p:txBody>
      </p:sp>
      <p:sp>
        <p:nvSpPr>
          <p:cNvPr id="13" name="content1">
            <a:extLst>
              <a:ext uri="{FF2B5EF4-FFF2-40B4-BE49-F238E27FC236}">
                <a16:creationId xmlns:a16="http://schemas.microsoft.com/office/drawing/2014/main" id="{0D56670D-A85A-448F-818D-6D415FB1A2AD}"/>
              </a:ext>
            </a:extLst>
          </p:cNvPr>
          <p:cNvSpPr txBox="1"/>
          <p:nvPr/>
        </p:nvSpPr>
        <p:spPr>
          <a:xfrm>
            <a:off x="737805" y="2098358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Zomato has invested in user engagement strategies, such as its District platform for movies and dining, which enhances customer interaction and loyalty.</a:t>
            </a:r>
          </a:p>
        </p:txBody>
      </p:sp>
      <p:sp>
        <p:nvSpPr>
          <p:cNvPr id="14" name="head1">
            <a:extLst>
              <a:ext uri="{FF2B5EF4-FFF2-40B4-BE49-F238E27FC236}">
                <a16:creationId xmlns:a16="http://schemas.microsoft.com/office/drawing/2014/main" id="{9A4C4650-475C-4F06-912B-7A535409FDDC}"/>
              </a:ext>
            </a:extLst>
          </p:cNvPr>
          <p:cNvSpPr txBox="1"/>
          <p:nvPr/>
        </p:nvSpPr>
        <p:spPr>
          <a:xfrm>
            <a:off x="737805" y="1513583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User Engagement</a:t>
            </a:r>
          </a:p>
        </p:txBody>
      </p:sp>
      <p:sp>
        <p:nvSpPr>
          <p:cNvPr id="15" name="subtopic">
            <a:extLst>
              <a:ext uri="{FF2B5EF4-FFF2-40B4-BE49-F238E27FC236}">
                <a16:creationId xmlns:a16="http://schemas.microsoft.com/office/drawing/2014/main" id="{0817A346-3588-46F6-9A91-768330515E36}"/>
              </a:ext>
            </a:extLst>
          </p:cNvPr>
          <p:cNvSpPr txBox="1"/>
          <p:nvPr/>
        </p:nvSpPr>
        <p:spPr>
          <a:xfrm>
            <a:off x="318052" y="209886"/>
            <a:ext cx="10880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Customer Experience: How Engagement Strategies Shape User Preferences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171;p32">
            <a:extLst>
              <a:ext uri="{FF2B5EF4-FFF2-40B4-BE49-F238E27FC236}">
                <a16:creationId xmlns:a16="http://schemas.microsoft.com/office/drawing/2014/main" id="{9ACD8CA5-4451-4ED5-B63B-DFEF44E87616}"/>
              </a:ext>
            </a:extLst>
          </p:cNvPr>
          <p:cNvSpPr txBox="1">
            <a:spLocks/>
          </p:cNvSpPr>
          <p:nvPr/>
        </p:nvSpPr>
        <p:spPr>
          <a:xfrm>
            <a:off x="5394900" y="1801287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01</a:t>
            </a:r>
          </a:p>
        </p:txBody>
      </p:sp>
      <p:sp>
        <p:nvSpPr>
          <p:cNvPr id="3" name="Google Shape;173;p32">
            <a:extLst>
              <a:ext uri="{FF2B5EF4-FFF2-40B4-BE49-F238E27FC236}">
                <a16:creationId xmlns:a16="http://schemas.microsoft.com/office/drawing/2014/main" id="{21EBBC7F-3BF9-411A-AC9F-280CDA1EBF71}"/>
              </a:ext>
            </a:extLst>
          </p:cNvPr>
          <p:cNvSpPr txBox="1">
            <a:spLocks/>
          </p:cNvSpPr>
          <p:nvPr/>
        </p:nvSpPr>
        <p:spPr>
          <a:xfrm>
            <a:off x="5392252" y="51744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03</a:t>
            </a:r>
          </a:p>
        </p:txBody>
      </p:sp>
      <p:cxnSp>
        <p:nvCxnSpPr>
          <p:cNvPr id="4" name="Google Shape;178;p32">
            <a:extLst>
              <a:ext uri="{FF2B5EF4-FFF2-40B4-BE49-F238E27FC236}">
                <a16:creationId xmlns:a16="http://schemas.microsoft.com/office/drawing/2014/main" id="{4D0AF5DD-3304-47B9-9DBD-552A0C712BFC}"/>
              </a:ext>
            </a:extLst>
          </p:cNvPr>
          <p:cNvCxnSpPr>
            <a:cxnSpLocks/>
          </p:cNvCxnSpPr>
          <p:nvPr/>
        </p:nvCxnSpPr>
        <p:spPr>
          <a:xfrm>
            <a:off x="5243772" y="1237405"/>
            <a:ext cx="0" cy="5448907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Google Shape;179;p32">
            <a:extLst>
              <a:ext uri="{FF2B5EF4-FFF2-40B4-BE49-F238E27FC236}">
                <a16:creationId xmlns:a16="http://schemas.microsoft.com/office/drawing/2014/main" id="{08C8FDE0-2039-417A-8014-7FD5C8720338}"/>
              </a:ext>
            </a:extLst>
          </p:cNvPr>
          <p:cNvCxnSpPr/>
          <p:nvPr/>
        </p:nvCxnSpPr>
        <p:spPr>
          <a:xfrm rot="10800000">
            <a:off x="4888884" y="2069642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Google Shape;180;p32">
            <a:extLst>
              <a:ext uri="{FF2B5EF4-FFF2-40B4-BE49-F238E27FC236}">
                <a16:creationId xmlns:a16="http://schemas.microsoft.com/office/drawing/2014/main" id="{9C247B9B-3CE8-4CA5-BC6D-ED5951DC35A0}"/>
              </a:ext>
            </a:extLst>
          </p:cNvPr>
          <p:cNvCxnSpPr/>
          <p:nvPr/>
        </p:nvCxnSpPr>
        <p:spPr>
          <a:xfrm rot="10800000">
            <a:off x="5243772" y="3757261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Google Shape;181;p32">
            <a:extLst>
              <a:ext uri="{FF2B5EF4-FFF2-40B4-BE49-F238E27FC236}">
                <a16:creationId xmlns:a16="http://schemas.microsoft.com/office/drawing/2014/main" id="{B99263AB-A4F5-4E49-AE7F-761BDE140E7D}"/>
              </a:ext>
            </a:extLst>
          </p:cNvPr>
          <p:cNvCxnSpPr/>
          <p:nvPr/>
        </p:nvCxnSpPr>
        <p:spPr>
          <a:xfrm rot="10800000">
            <a:off x="4847631" y="5455878"/>
            <a:ext cx="3660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173;p32">
            <a:extLst>
              <a:ext uri="{FF2B5EF4-FFF2-40B4-BE49-F238E27FC236}">
                <a16:creationId xmlns:a16="http://schemas.microsoft.com/office/drawing/2014/main" id="{59DC8F83-EC2B-4C3F-8303-4E92717D5388}"/>
              </a:ext>
            </a:extLst>
          </p:cNvPr>
          <p:cNvSpPr txBox="1">
            <a:spLocks/>
          </p:cNvSpPr>
          <p:nvPr/>
        </p:nvSpPr>
        <p:spPr>
          <a:xfrm>
            <a:off x="4137794" y="3529571"/>
            <a:ext cx="11604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" dirty="0"/>
              <a:t>02</a:t>
            </a:r>
          </a:p>
        </p:txBody>
      </p:sp>
      <p:sp>
        <p:nvSpPr>
          <p:cNvPr id="9" name="content3">
            <a:extLst>
              <a:ext uri="{FF2B5EF4-FFF2-40B4-BE49-F238E27FC236}">
                <a16:creationId xmlns:a16="http://schemas.microsoft.com/office/drawing/2014/main" id="{87510014-2DBF-4A05-807A-5F40DAB03A54}"/>
              </a:ext>
            </a:extLst>
          </p:cNvPr>
          <p:cNvSpPr txBox="1"/>
          <p:nvPr/>
        </p:nvSpPr>
        <p:spPr>
          <a:xfrm>
            <a:off x="737805" y="5355452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The future of both companies will depend on their ability to adapt to changing consumer preferences, technological advancements, and the overall economic environment in India.</a:t>
            </a:r>
          </a:p>
        </p:txBody>
      </p:sp>
      <p:sp>
        <p:nvSpPr>
          <p:cNvPr id="10" name="head3">
            <a:extLst>
              <a:ext uri="{FF2B5EF4-FFF2-40B4-BE49-F238E27FC236}">
                <a16:creationId xmlns:a16="http://schemas.microsoft.com/office/drawing/2014/main" id="{4CDE91AD-7D68-479F-B878-760D6B57DF98}"/>
              </a:ext>
            </a:extLst>
          </p:cNvPr>
          <p:cNvSpPr txBox="1"/>
          <p:nvPr/>
        </p:nvSpPr>
        <p:spPr>
          <a:xfrm>
            <a:off x="737805" y="4770677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Long-term Strategies</a:t>
            </a:r>
          </a:p>
        </p:txBody>
      </p:sp>
      <p:sp>
        <p:nvSpPr>
          <p:cNvPr id="11" name="content2">
            <a:extLst>
              <a:ext uri="{FF2B5EF4-FFF2-40B4-BE49-F238E27FC236}">
                <a16:creationId xmlns:a16="http://schemas.microsoft.com/office/drawing/2014/main" id="{5DFB1118-D534-4F23-8272-FB69C2E9049D}"/>
              </a:ext>
            </a:extLst>
          </p:cNvPr>
          <p:cNvSpPr txBox="1"/>
          <p:nvPr/>
        </p:nvSpPr>
        <p:spPr>
          <a:xfrm>
            <a:off x="5968367" y="3751471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Analysts predict that the competitive landscape will continue to evolve, with Swiggy potentially regaining market share through strategic innovations and improved service offerings.</a:t>
            </a:r>
          </a:p>
        </p:txBody>
      </p:sp>
      <p:sp>
        <p:nvSpPr>
          <p:cNvPr id="12" name="head2">
            <a:extLst>
              <a:ext uri="{FF2B5EF4-FFF2-40B4-BE49-F238E27FC236}">
                <a16:creationId xmlns:a16="http://schemas.microsoft.com/office/drawing/2014/main" id="{3E071FFE-7960-4952-BF3A-0FE9A5FDB4EA}"/>
              </a:ext>
            </a:extLst>
          </p:cNvPr>
          <p:cNvSpPr txBox="1"/>
          <p:nvPr/>
        </p:nvSpPr>
        <p:spPr>
          <a:xfrm>
            <a:off x="5968367" y="3166696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Market Predictions</a:t>
            </a:r>
          </a:p>
        </p:txBody>
      </p:sp>
      <p:sp>
        <p:nvSpPr>
          <p:cNvPr id="13" name="content1">
            <a:extLst>
              <a:ext uri="{FF2B5EF4-FFF2-40B4-BE49-F238E27FC236}">
                <a16:creationId xmlns:a16="http://schemas.microsoft.com/office/drawing/2014/main" id="{0D56670D-A85A-448F-818D-6D415FB1A2AD}"/>
              </a:ext>
            </a:extLst>
          </p:cNvPr>
          <p:cNvSpPr txBox="1"/>
          <p:nvPr/>
        </p:nvSpPr>
        <p:spPr>
          <a:xfrm>
            <a:off x="737805" y="2098358"/>
            <a:ext cx="414434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Both companies are expected to continue innovating, with Zomato's Blinkit and Swiggy's Instamart competing in the quick commerce space, which is rapidly growing.</a:t>
            </a:r>
          </a:p>
        </p:txBody>
      </p:sp>
      <p:sp>
        <p:nvSpPr>
          <p:cNvPr id="14" name="head1">
            <a:extLst>
              <a:ext uri="{FF2B5EF4-FFF2-40B4-BE49-F238E27FC236}">
                <a16:creationId xmlns:a16="http://schemas.microsoft.com/office/drawing/2014/main" id="{9A4C4650-475C-4F06-912B-7A535409FDDC}"/>
              </a:ext>
            </a:extLst>
          </p:cNvPr>
          <p:cNvSpPr txBox="1"/>
          <p:nvPr/>
        </p:nvSpPr>
        <p:spPr>
          <a:xfrm>
            <a:off x="737805" y="1513583"/>
            <a:ext cx="41443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Innovations on the Horizon</a:t>
            </a:r>
          </a:p>
        </p:txBody>
      </p:sp>
      <p:sp>
        <p:nvSpPr>
          <p:cNvPr id="15" name="subtopic">
            <a:extLst>
              <a:ext uri="{FF2B5EF4-FFF2-40B4-BE49-F238E27FC236}">
                <a16:creationId xmlns:a16="http://schemas.microsoft.com/office/drawing/2014/main" id="{0817A346-3588-46F6-9A91-768330515E36}"/>
              </a:ext>
            </a:extLst>
          </p:cNvPr>
          <p:cNvSpPr txBox="1"/>
          <p:nvPr/>
        </p:nvSpPr>
        <p:spPr>
          <a:xfrm>
            <a:off x="318052" y="209886"/>
            <a:ext cx="10880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Future Outlook: Strategic Innovations and Market Predictions for 2024 and Beyond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clusion-line">
            <a:extLst>
              <a:ext uri="{FF2B5EF4-FFF2-40B4-BE49-F238E27FC236}">
                <a16:creationId xmlns:a16="http://schemas.microsoft.com/office/drawing/2014/main" id="{3F2BFDD8-8459-4FE6-A381-38F0E1D8B287}"/>
              </a:ext>
            </a:extLst>
          </p:cNvPr>
          <p:cNvSpPr txBox="1"/>
          <p:nvPr/>
        </p:nvSpPr>
        <p:spPr>
          <a:xfrm>
            <a:off x="4097866" y="1117600"/>
            <a:ext cx="80941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/>
              <a:t>Thank you statement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