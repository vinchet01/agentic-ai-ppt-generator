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">
            <a:extLst>
              <a:ext uri="{FF2B5EF4-FFF2-40B4-BE49-F238E27FC236}">
                <a16:creationId xmlns:a16="http://schemas.microsoft.com/office/drawing/2014/main" id="{68F43B52-1B45-4C34-8475-5DF70371FDD0}"/>
              </a:ext>
            </a:extLst>
          </p:cNvPr>
          <p:cNvSpPr txBox="1"/>
          <p:nvPr/>
        </p:nvSpPr>
        <p:spPr>
          <a:xfrm>
            <a:off x="925688" y="2630311"/>
            <a:ext cx="1067928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Tesla vs BYD: A Comparative Analysis of Electric Vehicle Giants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1">
            <a:extLst>
              <a:ext uri="{FF2B5EF4-FFF2-40B4-BE49-F238E27FC236}">
                <a16:creationId xmlns:a16="http://schemas.microsoft.com/office/drawing/2014/main" id="{4CFE2BC8-54A5-407E-B141-B5EC04BD3417}"/>
              </a:ext>
            </a:extLst>
          </p:cNvPr>
          <p:cNvSpPr txBox="1"/>
          <p:nvPr/>
        </p:nvSpPr>
        <p:spPr>
          <a:xfrm>
            <a:off x="382842" y="2321170"/>
            <a:ext cx="858888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In 2023, BYD became the global new energy vehicle sales champion, achieving over 3 million annual sales for the second consecutive year.</a:t>
            </a:r>
          </a:p>
        </p:txBody>
      </p:sp>
      <p:sp>
        <p:nvSpPr>
          <p:cNvPr id="3" name="head1">
            <a:extLst>
              <a:ext uri="{FF2B5EF4-FFF2-40B4-BE49-F238E27FC236}">
                <a16:creationId xmlns:a16="http://schemas.microsoft.com/office/drawing/2014/main" id="{AF43DD1A-697B-4E09-8F47-DB6EB5F90E42}"/>
              </a:ext>
            </a:extLst>
          </p:cNvPr>
          <p:cNvSpPr txBox="1"/>
          <p:nvPr/>
        </p:nvSpPr>
        <p:spPr>
          <a:xfrm>
            <a:off x="382842" y="1659451"/>
            <a:ext cx="858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BYD's Market Leadership</a:t>
            </a:r>
          </a:p>
        </p:txBody>
      </p:sp>
      <p:sp>
        <p:nvSpPr>
          <p:cNvPr id="5" name="content2">
            <a:extLst>
              <a:ext uri="{FF2B5EF4-FFF2-40B4-BE49-F238E27FC236}">
                <a16:creationId xmlns:a16="http://schemas.microsoft.com/office/drawing/2014/main" id="{0114294D-3C82-4496-9578-DE3D20CA1765}"/>
              </a:ext>
            </a:extLst>
          </p:cNvPr>
          <p:cNvSpPr txBox="1"/>
          <p:nvPr/>
        </p:nvSpPr>
        <p:spPr>
          <a:xfrm>
            <a:off x="402712" y="3940580"/>
            <a:ext cx="856901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BYD's exports surged by 334.2% in 2023, reaching 242,765 units across over 70 countries, enhancing its global market presence.</a:t>
            </a:r>
          </a:p>
        </p:txBody>
      </p:sp>
      <p:sp>
        <p:nvSpPr>
          <p:cNvPr id="6" name="head2">
            <a:extLst>
              <a:ext uri="{FF2B5EF4-FFF2-40B4-BE49-F238E27FC236}">
                <a16:creationId xmlns:a16="http://schemas.microsoft.com/office/drawing/2014/main" id="{EC54FAE9-D0C9-4E6D-BD92-BE588E00A0E5}"/>
              </a:ext>
            </a:extLst>
          </p:cNvPr>
          <p:cNvSpPr txBox="1"/>
          <p:nvPr/>
        </p:nvSpPr>
        <p:spPr>
          <a:xfrm>
            <a:off x="388238" y="3281321"/>
            <a:ext cx="858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International Expansion</a:t>
            </a:r>
          </a:p>
        </p:txBody>
      </p:sp>
      <p:sp>
        <p:nvSpPr>
          <p:cNvPr id="7" name="content3">
            <a:extLst>
              <a:ext uri="{FF2B5EF4-FFF2-40B4-BE49-F238E27FC236}">
                <a16:creationId xmlns:a16="http://schemas.microsoft.com/office/drawing/2014/main" id="{BAB09B8F-FCBE-446C-89AD-F3E542DDA470}"/>
              </a:ext>
            </a:extLst>
          </p:cNvPr>
          <p:cNvSpPr txBox="1"/>
          <p:nvPr/>
        </p:nvSpPr>
        <p:spPr>
          <a:xfrm>
            <a:off x="382842" y="5566061"/>
            <a:ext cx="8583484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BYD boasts an extensive brand matrix, including the Dynasty and Ocean series, solidifying its position in the global new energy sector.</a:t>
            </a:r>
          </a:p>
        </p:txBody>
      </p:sp>
      <p:sp>
        <p:nvSpPr>
          <p:cNvPr id="8" name="head3">
            <a:extLst>
              <a:ext uri="{FF2B5EF4-FFF2-40B4-BE49-F238E27FC236}">
                <a16:creationId xmlns:a16="http://schemas.microsoft.com/office/drawing/2014/main" id="{7F46E3E4-B57E-4E3B-ABC9-C8472D45B500}"/>
              </a:ext>
            </a:extLst>
          </p:cNvPr>
          <p:cNvSpPr txBox="1"/>
          <p:nvPr/>
        </p:nvSpPr>
        <p:spPr>
          <a:xfrm>
            <a:off x="388238" y="4900731"/>
            <a:ext cx="858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Diverse Product Portfolio</a:t>
            </a:r>
          </a:p>
        </p:txBody>
      </p:sp>
      <p:sp>
        <p:nvSpPr>
          <p:cNvPr id="4" name="subtopic">
            <a:extLst>
              <a:ext uri="{FF2B5EF4-FFF2-40B4-BE49-F238E27FC236}">
                <a16:creationId xmlns:a16="http://schemas.microsoft.com/office/drawing/2014/main" id="{216BD8E4-BE8C-48D9-AFBB-D6093A341E66}"/>
              </a:ext>
            </a:extLst>
          </p:cNvPr>
          <p:cNvSpPr txBox="1"/>
          <p:nvPr/>
        </p:nvSpPr>
        <p:spPr>
          <a:xfrm>
            <a:off x="382842" y="202185"/>
            <a:ext cx="1086305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Overview of Tesla and BYD: Company Histories and Market Positions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1">
            <a:extLst>
              <a:ext uri="{FF2B5EF4-FFF2-40B4-BE49-F238E27FC236}">
                <a16:creationId xmlns:a16="http://schemas.microsoft.com/office/drawing/2014/main" id="{4CFE2BC8-54A5-407E-B141-B5EC04BD3417}"/>
              </a:ext>
            </a:extLst>
          </p:cNvPr>
          <p:cNvSpPr txBox="1"/>
          <p:nvPr/>
        </p:nvSpPr>
        <p:spPr>
          <a:xfrm>
            <a:off x="382842" y="2321170"/>
            <a:ext cx="858888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BYD sold approximately 3 million cars in 2023, with a forecast of 4 million, while Tesla experienced a year-over-year sales decline in early 2024.</a:t>
            </a:r>
          </a:p>
        </p:txBody>
      </p:sp>
      <p:sp>
        <p:nvSpPr>
          <p:cNvPr id="3" name="head1">
            <a:extLst>
              <a:ext uri="{FF2B5EF4-FFF2-40B4-BE49-F238E27FC236}">
                <a16:creationId xmlns:a16="http://schemas.microsoft.com/office/drawing/2014/main" id="{AF43DD1A-697B-4E09-8F47-DB6EB5F90E42}"/>
              </a:ext>
            </a:extLst>
          </p:cNvPr>
          <p:cNvSpPr txBox="1"/>
          <p:nvPr/>
        </p:nvSpPr>
        <p:spPr>
          <a:xfrm>
            <a:off x="382842" y="1659451"/>
            <a:ext cx="858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Sales Performance</a:t>
            </a:r>
          </a:p>
        </p:txBody>
      </p:sp>
      <p:sp>
        <p:nvSpPr>
          <p:cNvPr id="5" name="content2">
            <a:extLst>
              <a:ext uri="{FF2B5EF4-FFF2-40B4-BE49-F238E27FC236}">
                <a16:creationId xmlns:a16="http://schemas.microsoft.com/office/drawing/2014/main" id="{0114294D-3C82-4496-9578-DE3D20CA1765}"/>
              </a:ext>
            </a:extLst>
          </p:cNvPr>
          <p:cNvSpPr txBox="1"/>
          <p:nvPr/>
        </p:nvSpPr>
        <p:spPr>
          <a:xfrm>
            <a:off x="402712" y="3940580"/>
            <a:ext cx="856901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BYD drives down costs through vertical integration, enhancing its competitive edge in the EV market.</a:t>
            </a:r>
          </a:p>
        </p:txBody>
      </p:sp>
      <p:sp>
        <p:nvSpPr>
          <p:cNvPr id="6" name="head2">
            <a:extLst>
              <a:ext uri="{FF2B5EF4-FFF2-40B4-BE49-F238E27FC236}">
                <a16:creationId xmlns:a16="http://schemas.microsoft.com/office/drawing/2014/main" id="{EC54FAE9-D0C9-4E6D-BD92-BE588E00A0E5}"/>
              </a:ext>
            </a:extLst>
          </p:cNvPr>
          <p:cNvSpPr txBox="1"/>
          <p:nvPr/>
        </p:nvSpPr>
        <p:spPr>
          <a:xfrm>
            <a:off x="388238" y="3281321"/>
            <a:ext cx="858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Vertical Integration</a:t>
            </a:r>
          </a:p>
        </p:txBody>
      </p:sp>
      <p:sp>
        <p:nvSpPr>
          <p:cNvPr id="7" name="content3">
            <a:extLst>
              <a:ext uri="{FF2B5EF4-FFF2-40B4-BE49-F238E27FC236}">
                <a16:creationId xmlns:a16="http://schemas.microsoft.com/office/drawing/2014/main" id="{BAB09B8F-FCBE-446C-89AD-F3E542DDA470}"/>
              </a:ext>
            </a:extLst>
          </p:cNvPr>
          <p:cNvSpPr txBox="1"/>
          <p:nvPr/>
        </p:nvSpPr>
        <p:spPr>
          <a:xfrm>
            <a:off x="382842" y="5566061"/>
            <a:ext cx="8583484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BYD is one of the largest battery manufacturers, contributing to a significant cost advantage in China's EV sector.</a:t>
            </a:r>
          </a:p>
        </p:txBody>
      </p:sp>
      <p:sp>
        <p:nvSpPr>
          <p:cNvPr id="8" name="head3">
            <a:extLst>
              <a:ext uri="{FF2B5EF4-FFF2-40B4-BE49-F238E27FC236}">
                <a16:creationId xmlns:a16="http://schemas.microsoft.com/office/drawing/2014/main" id="{7F46E3E4-B57E-4E3B-ABC9-C8472D45B500}"/>
              </a:ext>
            </a:extLst>
          </p:cNvPr>
          <p:cNvSpPr txBox="1"/>
          <p:nvPr/>
        </p:nvSpPr>
        <p:spPr>
          <a:xfrm>
            <a:off x="388238" y="4900731"/>
            <a:ext cx="858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Battery Manufacturing</a:t>
            </a:r>
          </a:p>
        </p:txBody>
      </p:sp>
      <p:sp>
        <p:nvSpPr>
          <p:cNvPr id="4" name="subtopic">
            <a:extLst>
              <a:ext uri="{FF2B5EF4-FFF2-40B4-BE49-F238E27FC236}">
                <a16:creationId xmlns:a16="http://schemas.microsoft.com/office/drawing/2014/main" id="{216BD8E4-BE8C-48D9-AFBB-D6093A341E66}"/>
              </a:ext>
            </a:extLst>
          </p:cNvPr>
          <p:cNvSpPr txBox="1"/>
          <p:nvPr/>
        </p:nvSpPr>
        <p:spPr>
          <a:xfrm>
            <a:off x="382842" y="202185"/>
            <a:ext cx="1086305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Technological Innovations: Comparing EV Technologies and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1">
            <a:extLst>
              <a:ext uri="{FF2B5EF4-FFF2-40B4-BE49-F238E27FC236}">
                <a16:creationId xmlns:a16="http://schemas.microsoft.com/office/drawing/2014/main" id="{4CFE2BC8-54A5-407E-B141-B5EC04BD3417}"/>
              </a:ext>
            </a:extLst>
          </p:cNvPr>
          <p:cNvSpPr txBox="1"/>
          <p:nvPr/>
        </p:nvSpPr>
        <p:spPr>
          <a:xfrm>
            <a:off x="382842" y="2321170"/>
            <a:ext cx="858888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BYD surpassed Tesla in production volume in 2024, producing 1,777,965 battery electric vehicles (BEVs).</a:t>
            </a:r>
          </a:p>
        </p:txBody>
      </p:sp>
      <p:sp>
        <p:nvSpPr>
          <p:cNvPr id="3" name="head1">
            <a:extLst>
              <a:ext uri="{FF2B5EF4-FFF2-40B4-BE49-F238E27FC236}">
                <a16:creationId xmlns:a16="http://schemas.microsoft.com/office/drawing/2014/main" id="{AF43DD1A-697B-4E09-8F47-DB6EB5F90E42}"/>
              </a:ext>
            </a:extLst>
          </p:cNvPr>
          <p:cNvSpPr txBox="1"/>
          <p:nvPr/>
        </p:nvSpPr>
        <p:spPr>
          <a:xfrm>
            <a:off x="382842" y="1659451"/>
            <a:ext cx="858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Production Volume</a:t>
            </a:r>
          </a:p>
        </p:txBody>
      </p:sp>
      <p:sp>
        <p:nvSpPr>
          <p:cNvPr id="5" name="content2">
            <a:extLst>
              <a:ext uri="{FF2B5EF4-FFF2-40B4-BE49-F238E27FC236}">
                <a16:creationId xmlns:a16="http://schemas.microsoft.com/office/drawing/2014/main" id="{0114294D-3C82-4496-9578-DE3D20CA1765}"/>
              </a:ext>
            </a:extLst>
          </p:cNvPr>
          <p:cNvSpPr txBox="1"/>
          <p:nvPr/>
        </p:nvSpPr>
        <p:spPr>
          <a:xfrm>
            <a:off x="402712" y="3940580"/>
            <a:ext cx="856901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Tesla led in sales with 1.79 million units sold in 2024, slightly ahead of BYD's 1.76 million units.</a:t>
            </a:r>
          </a:p>
        </p:txBody>
      </p:sp>
      <p:sp>
        <p:nvSpPr>
          <p:cNvPr id="6" name="head2">
            <a:extLst>
              <a:ext uri="{FF2B5EF4-FFF2-40B4-BE49-F238E27FC236}">
                <a16:creationId xmlns:a16="http://schemas.microsoft.com/office/drawing/2014/main" id="{EC54FAE9-D0C9-4E6D-BD92-BE588E00A0E5}"/>
              </a:ext>
            </a:extLst>
          </p:cNvPr>
          <p:cNvSpPr txBox="1"/>
          <p:nvPr/>
        </p:nvSpPr>
        <p:spPr>
          <a:xfrm>
            <a:off x="388238" y="3281321"/>
            <a:ext cx="858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Sales Performance</a:t>
            </a:r>
          </a:p>
        </p:txBody>
      </p:sp>
      <p:sp>
        <p:nvSpPr>
          <p:cNvPr id="7" name="content3">
            <a:extLst>
              <a:ext uri="{FF2B5EF4-FFF2-40B4-BE49-F238E27FC236}">
                <a16:creationId xmlns:a16="http://schemas.microsoft.com/office/drawing/2014/main" id="{BAB09B8F-FCBE-446C-89AD-F3E542DDA470}"/>
              </a:ext>
            </a:extLst>
          </p:cNvPr>
          <p:cNvSpPr txBox="1"/>
          <p:nvPr/>
        </p:nvSpPr>
        <p:spPr>
          <a:xfrm>
            <a:off x="382842" y="5566061"/>
            <a:ext cx="8583484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BYD is projected to become the sole global sales leader in the electric vehicle sector by 2025, overtaking Tesla.</a:t>
            </a:r>
          </a:p>
        </p:txBody>
      </p:sp>
      <p:sp>
        <p:nvSpPr>
          <p:cNvPr id="8" name="head3">
            <a:extLst>
              <a:ext uri="{FF2B5EF4-FFF2-40B4-BE49-F238E27FC236}">
                <a16:creationId xmlns:a16="http://schemas.microsoft.com/office/drawing/2014/main" id="{7F46E3E4-B57E-4E3B-ABC9-C8472D45B500}"/>
              </a:ext>
            </a:extLst>
          </p:cNvPr>
          <p:cNvSpPr txBox="1"/>
          <p:nvPr/>
        </p:nvSpPr>
        <p:spPr>
          <a:xfrm>
            <a:off x="388238" y="4900731"/>
            <a:ext cx="858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Market Leadership Shift</a:t>
            </a:r>
          </a:p>
        </p:txBody>
      </p:sp>
      <p:sp>
        <p:nvSpPr>
          <p:cNvPr id="4" name="subtopic">
            <a:extLst>
              <a:ext uri="{FF2B5EF4-FFF2-40B4-BE49-F238E27FC236}">
                <a16:creationId xmlns:a16="http://schemas.microsoft.com/office/drawing/2014/main" id="{216BD8E4-BE8C-48D9-AFBB-D6093A341E66}"/>
              </a:ext>
            </a:extLst>
          </p:cNvPr>
          <p:cNvSpPr txBox="1"/>
          <p:nvPr/>
        </p:nvSpPr>
        <p:spPr>
          <a:xfrm>
            <a:off x="382842" y="202185"/>
            <a:ext cx="1086305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Performance Metrics: Sales, Production, and Market Share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1">
            <a:extLst>
              <a:ext uri="{FF2B5EF4-FFF2-40B4-BE49-F238E27FC236}">
                <a16:creationId xmlns:a16="http://schemas.microsoft.com/office/drawing/2014/main" id="{4CFE2BC8-54A5-407E-B141-B5EC04BD3417}"/>
              </a:ext>
            </a:extLst>
          </p:cNvPr>
          <p:cNvSpPr txBox="1"/>
          <p:nvPr/>
        </p:nvSpPr>
        <p:spPr>
          <a:xfrm>
            <a:off x="382842" y="2321170"/>
            <a:ext cx="858888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BYD employs a cost-plus pricing strategy, leveraging vertical integration to maintain competitive pricing and secure market share.</a:t>
            </a:r>
          </a:p>
        </p:txBody>
      </p:sp>
      <p:sp>
        <p:nvSpPr>
          <p:cNvPr id="3" name="head1">
            <a:extLst>
              <a:ext uri="{FF2B5EF4-FFF2-40B4-BE49-F238E27FC236}">
                <a16:creationId xmlns:a16="http://schemas.microsoft.com/office/drawing/2014/main" id="{AF43DD1A-697B-4E09-8F47-DB6EB5F90E42}"/>
              </a:ext>
            </a:extLst>
          </p:cNvPr>
          <p:cNvSpPr txBox="1"/>
          <p:nvPr/>
        </p:nvSpPr>
        <p:spPr>
          <a:xfrm>
            <a:off x="382842" y="1659451"/>
            <a:ext cx="858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BYD's Cost-Plus Pricing</a:t>
            </a:r>
          </a:p>
        </p:txBody>
      </p:sp>
      <p:sp>
        <p:nvSpPr>
          <p:cNvPr id="5" name="content2">
            <a:extLst>
              <a:ext uri="{FF2B5EF4-FFF2-40B4-BE49-F238E27FC236}">
                <a16:creationId xmlns:a16="http://schemas.microsoft.com/office/drawing/2014/main" id="{0114294D-3C82-4496-9578-DE3D20CA1765}"/>
              </a:ext>
            </a:extLst>
          </p:cNvPr>
          <p:cNvSpPr txBox="1"/>
          <p:nvPr/>
        </p:nvSpPr>
        <p:spPr>
          <a:xfrm>
            <a:off x="402712" y="3940580"/>
            <a:ext cx="856901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Tesla utilizes a value-based pricing strategy, focusing on premium branding and software integration, which enhances perceived value but limits volume growth.</a:t>
            </a:r>
          </a:p>
        </p:txBody>
      </p:sp>
      <p:sp>
        <p:nvSpPr>
          <p:cNvPr id="6" name="head2">
            <a:extLst>
              <a:ext uri="{FF2B5EF4-FFF2-40B4-BE49-F238E27FC236}">
                <a16:creationId xmlns:a16="http://schemas.microsoft.com/office/drawing/2014/main" id="{EC54FAE9-D0C9-4E6D-BD92-BE588E00A0E5}"/>
              </a:ext>
            </a:extLst>
          </p:cNvPr>
          <p:cNvSpPr txBox="1"/>
          <p:nvPr/>
        </p:nvSpPr>
        <p:spPr>
          <a:xfrm>
            <a:off x="388238" y="3281321"/>
            <a:ext cx="858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Tesla's Value-Based Approach</a:t>
            </a:r>
          </a:p>
        </p:txBody>
      </p:sp>
      <p:sp>
        <p:nvSpPr>
          <p:cNvPr id="7" name="content3">
            <a:extLst>
              <a:ext uri="{FF2B5EF4-FFF2-40B4-BE49-F238E27FC236}">
                <a16:creationId xmlns:a16="http://schemas.microsoft.com/office/drawing/2014/main" id="{BAB09B8F-FCBE-446C-89AD-F3E542DDA470}"/>
              </a:ext>
            </a:extLst>
          </p:cNvPr>
          <p:cNvSpPr txBox="1"/>
          <p:nvPr/>
        </p:nvSpPr>
        <p:spPr>
          <a:xfrm>
            <a:off x="382842" y="5566061"/>
            <a:ext cx="8583484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The contrasting strategies lead to a price war, with BYD's low-cost approach causing margin compression and brand dilution, while Tesla's premium focus restricts market expansion.</a:t>
            </a:r>
          </a:p>
        </p:txBody>
      </p:sp>
      <p:sp>
        <p:nvSpPr>
          <p:cNvPr id="8" name="head3">
            <a:extLst>
              <a:ext uri="{FF2B5EF4-FFF2-40B4-BE49-F238E27FC236}">
                <a16:creationId xmlns:a16="http://schemas.microsoft.com/office/drawing/2014/main" id="{7F46E3E4-B57E-4E3B-ABC9-C8472D45B500}"/>
              </a:ext>
            </a:extLst>
          </p:cNvPr>
          <p:cNvSpPr txBox="1"/>
          <p:nvPr/>
        </p:nvSpPr>
        <p:spPr>
          <a:xfrm>
            <a:off x="388238" y="4900731"/>
            <a:ext cx="858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Market Impact of Pricing Strategies</a:t>
            </a:r>
          </a:p>
        </p:txBody>
      </p:sp>
      <p:sp>
        <p:nvSpPr>
          <p:cNvPr id="4" name="subtopic">
            <a:extLst>
              <a:ext uri="{FF2B5EF4-FFF2-40B4-BE49-F238E27FC236}">
                <a16:creationId xmlns:a16="http://schemas.microsoft.com/office/drawing/2014/main" id="{216BD8E4-BE8C-48D9-AFBB-D6093A341E66}"/>
              </a:ext>
            </a:extLst>
          </p:cNvPr>
          <p:cNvSpPr txBox="1"/>
          <p:nvPr/>
        </p:nvSpPr>
        <p:spPr>
          <a:xfrm>
            <a:off x="382842" y="202185"/>
            <a:ext cx="1086305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Pricing Strategies: Cost Comparisons and Value Propositions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1">
            <a:extLst>
              <a:ext uri="{FF2B5EF4-FFF2-40B4-BE49-F238E27FC236}">
                <a16:creationId xmlns:a16="http://schemas.microsoft.com/office/drawing/2014/main" id="{4CFE2BC8-54A5-407E-B141-B5EC04BD3417}"/>
              </a:ext>
            </a:extLst>
          </p:cNvPr>
          <p:cNvSpPr txBox="1"/>
          <p:nvPr/>
        </p:nvSpPr>
        <p:spPr>
          <a:xfrm>
            <a:off x="382842" y="2321170"/>
            <a:ext cx="858888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Tesla's brand loyalty has decreased to 52.1% in 2023, down from approximately 67% in 2022, indicating a shift in consumer preferences.</a:t>
            </a:r>
          </a:p>
        </p:txBody>
      </p:sp>
      <p:sp>
        <p:nvSpPr>
          <p:cNvPr id="3" name="head1">
            <a:extLst>
              <a:ext uri="{FF2B5EF4-FFF2-40B4-BE49-F238E27FC236}">
                <a16:creationId xmlns:a16="http://schemas.microsoft.com/office/drawing/2014/main" id="{AF43DD1A-697B-4E09-8F47-DB6EB5F90E42}"/>
              </a:ext>
            </a:extLst>
          </p:cNvPr>
          <p:cNvSpPr txBox="1"/>
          <p:nvPr/>
        </p:nvSpPr>
        <p:spPr>
          <a:xfrm>
            <a:off x="382842" y="1659451"/>
            <a:ext cx="858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Tesla Brand Loyalty Decline</a:t>
            </a:r>
          </a:p>
        </p:txBody>
      </p:sp>
      <p:sp>
        <p:nvSpPr>
          <p:cNvPr id="5" name="content2">
            <a:extLst>
              <a:ext uri="{FF2B5EF4-FFF2-40B4-BE49-F238E27FC236}">
                <a16:creationId xmlns:a16="http://schemas.microsoft.com/office/drawing/2014/main" id="{0114294D-3C82-4496-9578-DE3D20CA1765}"/>
              </a:ext>
            </a:extLst>
          </p:cNvPr>
          <p:cNvSpPr txBox="1"/>
          <p:nvPr/>
        </p:nvSpPr>
        <p:spPr>
          <a:xfrm>
            <a:off x="402712" y="3940580"/>
            <a:ext cx="856901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Other EV brands have seen an increase in fuel-type loyalty to 46.4%, suggesting that consumers are increasingly committed to electric vehicles beyond Tesla.</a:t>
            </a:r>
          </a:p>
        </p:txBody>
      </p:sp>
      <p:sp>
        <p:nvSpPr>
          <p:cNvPr id="6" name="head2">
            <a:extLst>
              <a:ext uri="{FF2B5EF4-FFF2-40B4-BE49-F238E27FC236}">
                <a16:creationId xmlns:a16="http://schemas.microsoft.com/office/drawing/2014/main" id="{EC54FAE9-D0C9-4E6D-BD92-BE588E00A0E5}"/>
              </a:ext>
            </a:extLst>
          </p:cNvPr>
          <p:cNvSpPr txBox="1"/>
          <p:nvPr/>
        </p:nvSpPr>
        <p:spPr>
          <a:xfrm>
            <a:off x="388238" y="3281321"/>
            <a:ext cx="858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Increased EV Commitment</a:t>
            </a:r>
          </a:p>
        </p:txBody>
      </p:sp>
      <p:sp>
        <p:nvSpPr>
          <p:cNvPr id="7" name="content3">
            <a:extLst>
              <a:ext uri="{FF2B5EF4-FFF2-40B4-BE49-F238E27FC236}">
                <a16:creationId xmlns:a16="http://schemas.microsoft.com/office/drawing/2014/main" id="{BAB09B8F-FCBE-446C-89AD-F3E542DDA470}"/>
              </a:ext>
            </a:extLst>
          </p:cNvPr>
          <p:cNvSpPr txBox="1"/>
          <p:nvPr/>
        </p:nvSpPr>
        <p:spPr>
          <a:xfrm>
            <a:off x="382842" y="5566061"/>
            <a:ext cx="8583484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Tesla owners are not switching to lower-priced vehicles; instead, they are moving to comparable or higher-priced models, particularly in the $75,000–$100,000 range.</a:t>
            </a:r>
          </a:p>
        </p:txBody>
      </p:sp>
      <p:sp>
        <p:nvSpPr>
          <p:cNvPr id="8" name="head3">
            <a:extLst>
              <a:ext uri="{FF2B5EF4-FFF2-40B4-BE49-F238E27FC236}">
                <a16:creationId xmlns:a16="http://schemas.microsoft.com/office/drawing/2014/main" id="{7F46E3E4-B57E-4E3B-ABC9-C8472D45B500}"/>
              </a:ext>
            </a:extLst>
          </p:cNvPr>
          <p:cNvSpPr txBox="1"/>
          <p:nvPr/>
        </p:nvSpPr>
        <p:spPr>
          <a:xfrm>
            <a:off x="388238" y="4900731"/>
            <a:ext cx="858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Defections to Premium Models</a:t>
            </a:r>
          </a:p>
        </p:txBody>
      </p:sp>
      <p:sp>
        <p:nvSpPr>
          <p:cNvPr id="4" name="subtopic">
            <a:extLst>
              <a:ext uri="{FF2B5EF4-FFF2-40B4-BE49-F238E27FC236}">
                <a16:creationId xmlns:a16="http://schemas.microsoft.com/office/drawing/2014/main" id="{216BD8E4-BE8C-48D9-AFBB-D6093A341E66}"/>
              </a:ext>
            </a:extLst>
          </p:cNvPr>
          <p:cNvSpPr txBox="1"/>
          <p:nvPr/>
        </p:nvSpPr>
        <p:spPr>
          <a:xfrm>
            <a:off x="382842" y="202185"/>
            <a:ext cx="1086305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Consumer Preferences: Brand Loyalty and Market Perception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1">
            <a:extLst>
              <a:ext uri="{FF2B5EF4-FFF2-40B4-BE49-F238E27FC236}">
                <a16:creationId xmlns:a16="http://schemas.microsoft.com/office/drawing/2014/main" id="{4CFE2BC8-54A5-407E-B141-B5EC04BD3417}"/>
              </a:ext>
            </a:extLst>
          </p:cNvPr>
          <p:cNvSpPr txBox="1"/>
          <p:nvPr/>
        </p:nvSpPr>
        <p:spPr>
          <a:xfrm>
            <a:off x="382842" y="2321170"/>
            <a:ext cx="858888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Tesla is contesting the EU's tariffs on Chinese-made EVs, which could significantly impact global trade policies.</a:t>
            </a:r>
          </a:p>
        </p:txBody>
      </p:sp>
      <p:sp>
        <p:nvSpPr>
          <p:cNvPr id="3" name="head1">
            <a:extLst>
              <a:ext uri="{FF2B5EF4-FFF2-40B4-BE49-F238E27FC236}">
                <a16:creationId xmlns:a16="http://schemas.microsoft.com/office/drawing/2014/main" id="{AF43DD1A-697B-4E09-8F47-DB6EB5F90E42}"/>
              </a:ext>
            </a:extLst>
          </p:cNvPr>
          <p:cNvSpPr txBox="1"/>
          <p:nvPr/>
        </p:nvSpPr>
        <p:spPr>
          <a:xfrm>
            <a:off x="382842" y="1659451"/>
            <a:ext cx="858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Tesla's Legal Challenge</a:t>
            </a:r>
          </a:p>
        </p:txBody>
      </p:sp>
      <p:sp>
        <p:nvSpPr>
          <p:cNvPr id="5" name="content2">
            <a:extLst>
              <a:ext uri="{FF2B5EF4-FFF2-40B4-BE49-F238E27FC236}">
                <a16:creationId xmlns:a16="http://schemas.microsoft.com/office/drawing/2014/main" id="{0114294D-3C82-4496-9578-DE3D20CA1765}"/>
              </a:ext>
            </a:extLst>
          </p:cNvPr>
          <p:cNvSpPr txBox="1"/>
          <p:nvPr/>
        </p:nvSpPr>
        <p:spPr>
          <a:xfrm>
            <a:off x="402712" y="3940580"/>
            <a:ext cx="856901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Major automotive manufacturers, including BYD, are joining Tesla in challenging these tariffs, citing restrictions on free trade.</a:t>
            </a:r>
          </a:p>
        </p:txBody>
      </p:sp>
      <p:sp>
        <p:nvSpPr>
          <p:cNvPr id="6" name="head2">
            <a:extLst>
              <a:ext uri="{FF2B5EF4-FFF2-40B4-BE49-F238E27FC236}">
                <a16:creationId xmlns:a16="http://schemas.microsoft.com/office/drawing/2014/main" id="{EC54FAE9-D0C9-4E6D-BD92-BE588E00A0E5}"/>
              </a:ext>
            </a:extLst>
          </p:cNvPr>
          <p:cNvSpPr txBox="1"/>
          <p:nvPr/>
        </p:nvSpPr>
        <p:spPr>
          <a:xfrm>
            <a:off x="388238" y="3281321"/>
            <a:ext cx="858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Industry-Wide Opposition</a:t>
            </a:r>
          </a:p>
        </p:txBody>
      </p:sp>
      <p:sp>
        <p:nvSpPr>
          <p:cNvPr id="7" name="content3">
            <a:extLst>
              <a:ext uri="{FF2B5EF4-FFF2-40B4-BE49-F238E27FC236}">
                <a16:creationId xmlns:a16="http://schemas.microsoft.com/office/drawing/2014/main" id="{BAB09B8F-FCBE-446C-89AD-F3E542DDA470}"/>
              </a:ext>
            </a:extLst>
          </p:cNvPr>
          <p:cNvSpPr txBox="1"/>
          <p:nvPr/>
        </p:nvSpPr>
        <p:spPr>
          <a:xfrm>
            <a:off x="382842" y="5566061"/>
            <a:ext cx="8583484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The outcome of these legal battles may hinder the global supply chain for EV production, affecting sustainability efforts.</a:t>
            </a:r>
          </a:p>
        </p:txBody>
      </p:sp>
      <p:sp>
        <p:nvSpPr>
          <p:cNvPr id="8" name="head3">
            <a:extLst>
              <a:ext uri="{FF2B5EF4-FFF2-40B4-BE49-F238E27FC236}">
                <a16:creationId xmlns:a16="http://schemas.microsoft.com/office/drawing/2014/main" id="{7F46E3E4-B57E-4E3B-ABC9-C8472D45B500}"/>
              </a:ext>
            </a:extLst>
          </p:cNvPr>
          <p:cNvSpPr txBox="1"/>
          <p:nvPr/>
        </p:nvSpPr>
        <p:spPr>
          <a:xfrm>
            <a:off x="388238" y="4900731"/>
            <a:ext cx="858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Impact on Global Supply Chains</a:t>
            </a:r>
          </a:p>
        </p:txBody>
      </p:sp>
      <p:sp>
        <p:nvSpPr>
          <p:cNvPr id="4" name="subtopic">
            <a:extLst>
              <a:ext uri="{FF2B5EF4-FFF2-40B4-BE49-F238E27FC236}">
                <a16:creationId xmlns:a16="http://schemas.microsoft.com/office/drawing/2014/main" id="{216BD8E4-BE8C-48D9-AFBB-D6093A341E66}"/>
              </a:ext>
            </a:extLst>
          </p:cNvPr>
          <p:cNvSpPr txBox="1"/>
          <p:nvPr/>
        </p:nvSpPr>
        <p:spPr>
          <a:xfrm>
            <a:off x="382842" y="202185"/>
            <a:ext cx="1086305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Regulatory Challenges: Impact of Tariffs and Global Policies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1">
            <a:extLst>
              <a:ext uri="{FF2B5EF4-FFF2-40B4-BE49-F238E27FC236}">
                <a16:creationId xmlns:a16="http://schemas.microsoft.com/office/drawing/2014/main" id="{4CFE2BC8-54A5-407E-B141-B5EC04BD3417}"/>
              </a:ext>
            </a:extLst>
          </p:cNvPr>
          <p:cNvSpPr txBox="1"/>
          <p:nvPr/>
        </p:nvSpPr>
        <p:spPr>
          <a:xfrm>
            <a:off x="382842" y="2321170"/>
            <a:ext cx="858888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BYD is projected to surpass Tesla in battery electric vehicle sales in 2024, indicating a significant shift in market dynamics.</a:t>
            </a:r>
          </a:p>
        </p:txBody>
      </p:sp>
      <p:sp>
        <p:nvSpPr>
          <p:cNvPr id="3" name="head1">
            <a:extLst>
              <a:ext uri="{FF2B5EF4-FFF2-40B4-BE49-F238E27FC236}">
                <a16:creationId xmlns:a16="http://schemas.microsoft.com/office/drawing/2014/main" id="{AF43DD1A-697B-4E09-8F47-DB6EB5F90E42}"/>
              </a:ext>
            </a:extLst>
          </p:cNvPr>
          <p:cNvSpPr txBox="1"/>
          <p:nvPr/>
        </p:nvSpPr>
        <p:spPr>
          <a:xfrm>
            <a:off x="382842" y="1659451"/>
            <a:ext cx="858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BYD's Market Surge</a:t>
            </a:r>
          </a:p>
        </p:txBody>
      </p:sp>
      <p:sp>
        <p:nvSpPr>
          <p:cNvPr id="5" name="content2">
            <a:extLst>
              <a:ext uri="{FF2B5EF4-FFF2-40B4-BE49-F238E27FC236}">
                <a16:creationId xmlns:a16="http://schemas.microsoft.com/office/drawing/2014/main" id="{0114294D-3C82-4496-9578-DE3D20CA1765}"/>
              </a:ext>
            </a:extLst>
          </p:cNvPr>
          <p:cNvSpPr txBox="1"/>
          <p:nvPr/>
        </p:nvSpPr>
        <p:spPr>
          <a:xfrm>
            <a:off x="402712" y="3940580"/>
            <a:ext cx="856901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Global battery electric vehicle sales are expected to reach 10 million in 2024, driven by declining internal combustion engine vehicles.</a:t>
            </a:r>
          </a:p>
        </p:txBody>
      </p:sp>
      <p:sp>
        <p:nvSpPr>
          <p:cNvPr id="6" name="head2">
            <a:extLst>
              <a:ext uri="{FF2B5EF4-FFF2-40B4-BE49-F238E27FC236}">
                <a16:creationId xmlns:a16="http://schemas.microsoft.com/office/drawing/2014/main" id="{EC54FAE9-D0C9-4E6D-BD92-BE588E00A0E5}"/>
              </a:ext>
            </a:extLst>
          </p:cNvPr>
          <p:cNvSpPr txBox="1"/>
          <p:nvPr/>
        </p:nvSpPr>
        <p:spPr>
          <a:xfrm>
            <a:off x="388238" y="3281321"/>
            <a:ext cx="858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Global BEV Growth</a:t>
            </a:r>
          </a:p>
        </p:txBody>
      </p:sp>
      <p:sp>
        <p:nvSpPr>
          <p:cNvPr id="7" name="content3">
            <a:extLst>
              <a:ext uri="{FF2B5EF4-FFF2-40B4-BE49-F238E27FC236}">
                <a16:creationId xmlns:a16="http://schemas.microsoft.com/office/drawing/2014/main" id="{BAB09B8F-FCBE-446C-89AD-F3E542DDA470}"/>
              </a:ext>
            </a:extLst>
          </p:cNvPr>
          <p:cNvSpPr txBox="1"/>
          <p:nvPr/>
        </p:nvSpPr>
        <p:spPr>
          <a:xfrm>
            <a:off x="382842" y="5566061"/>
            <a:ext cx="8583484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Tariffs may push Chinese automakers like BYD towards emerging markets, including the Middle East, Africa, and Southeast Asia, for growth opportunities.</a:t>
            </a:r>
          </a:p>
        </p:txBody>
      </p:sp>
      <p:sp>
        <p:nvSpPr>
          <p:cNvPr id="8" name="head3">
            <a:extLst>
              <a:ext uri="{FF2B5EF4-FFF2-40B4-BE49-F238E27FC236}">
                <a16:creationId xmlns:a16="http://schemas.microsoft.com/office/drawing/2014/main" id="{7F46E3E4-B57E-4E3B-ABC9-C8472D45B500}"/>
              </a:ext>
            </a:extLst>
          </p:cNvPr>
          <p:cNvSpPr txBox="1"/>
          <p:nvPr/>
        </p:nvSpPr>
        <p:spPr>
          <a:xfrm>
            <a:off x="388238" y="4900731"/>
            <a:ext cx="858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Emerging Market Focus</a:t>
            </a:r>
          </a:p>
        </p:txBody>
      </p:sp>
      <p:sp>
        <p:nvSpPr>
          <p:cNvPr id="4" name="subtopic">
            <a:extLst>
              <a:ext uri="{FF2B5EF4-FFF2-40B4-BE49-F238E27FC236}">
                <a16:creationId xmlns:a16="http://schemas.microsoft.com/office/drawing/2014/main" id="{216BD8E4-BE8C-48D9-AFBB-D6093A341E66}"/>
              </a:ext>
            </a:extLst>
          </p:cNvPr>
          <p:cNvSpPr txBox="1"/>
          <p:nvPr/>
        </p:nvSpPr>
        <p:spPr>
          <a:xfrm>
            <a:off x="382842" y="202185"/>
            <a:ext cx="1086305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t>Future Outlook: Predictions for Growth and Market Dynamics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ending">
            <a:extLst>
              <a:ext uri="{FF2B5EF4-FFF2-40B4-BE49-F238E27FC236}">
                <a16:creationId xmlns:a16="http://schemas.microsoft.com/office/drawing/2014/main" id="{3F2BFDD8-8459-4FE6-A381-38F0E1D8B287}"/>
              </a:ext>
            </a:extLst>
          </p:cNvPr>
          <p:cNvSpPr txBox="1"/>
          <p:nvPr/>
        </p:nvSpPr>
        <p:spPr>
          <a:xfrm>
            <a:off x="4097866" y="1117600"/>
            <a:ext cx="809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In conclusion, the competition between Tesla and BYD is reshaping the electric vehicle landscape, with significant implications for the future of the industry.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