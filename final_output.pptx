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a:extLst>
              <a:ext uri="{FF2B5EF4-FFF2-40B4-BE49-F238E27FC236}">
                <a16:creationId xmlns:a16="http://schemas.microsoft.com/office/drawing/2014/main" id="{68F43B52-1B45-4C34-8475-5DF70371FDD0}"/>
              </a:ext>
            </a:extLst>
          </p:cNvPr>
          <p:cNvSpPr txBox="1"/>
          <p:nvPr/>
        </p:nvSpPr>
        <p:spPr>
          <a:xfrm>
            <a:off x="925688" y="2630311"/>
            <a:ext cx="10679289" cy="1107996"/>
          </a:xfrm>
          <a:prstGeom prst="rect">
            <a:avLst/>
          </a:prstGeom>
          <a:noFill/>
        </p:spPr>
        <p:txBody>
          <a:bodyPr wrap="square" rtlCol="0">
            <a:spAutoFit/>
          </a:bodyPr>
          <a:lstStyle/>
          <a:p>
            <a:r>
              <a:t>The Global Journey of Ramen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1">
            <a:extLst>
              <a:ext uri="{FF2B5EF4-FFF2-40B4-BE49-F238E27FC236}">
                <a16:creationId xmlns:a16="http://schemas.microsoft.com/office/drawing/2014/main" id="{54FB0FDB-46CC-42BE-A833-C89184E3471E}"/>
              </a:ext>
            </a:extLst>
          </p:cNvPr>
          <p:cNvSpPr txBox="1"/>
          <p:nvPr/>
        </p:nvSpPr>
        <p:spPr>
          <a:xfrm>
            <a:off x="350251" y="3043533"/>
            <a:ext cx="5713159" cy="646331"/>
          </a:xfrm>
          <a:prstGeom prst="rect">
            <a:avLst/>
          </a:prstGeom>
          <a:noFill/>
          <a:ln>
            <a:solidFill>
              <a:schemeClr val="bg1"/>
            </a:solidFill>
          </a:ln>
        </p:spPr>
        <p:txBody>
          <a:bodyPr wrap="square" rtlCol="0">
            <a:spAutoFit/>
          </a:bodyPr>
          <a:lstStyle/>
          <a:p>
            <a:r>
              <a:t>Ramen traces its roots to China, where wheat noodles were enjoyed as early as the 3rd century AD, before being introduced to Japan by Chinese immigrants in the late 19th century.</a:t>
            </a:r>
          </a:p>
        </p:txBody>
      </p:sp>
      <p:sp>
        <p:nvSpPr>
          <p:cNvPr id="3" name="head1">
            <a:extLst>
              <a:ext uri="{FF2B5EF4-FFF2-40B4-BE49-F238E27FC236}">
                <a16:creationId xmlns:a16="http://schemas.microsoft.com/office/drawing/2014/main" id="{18484F3A-33E9-4106-BBE3-C35CDE75E4F4}"/>
              </a:ext>
            </a:extLst>
          </p:cNvPr>
          <p:cNvSpPr txBox="1"/>
          <p:nvPr/>
        </p:nvSpPr>
        <p:spPr>
          <a:xfrm>
            <a:off x="350251" y="2441330"/>
            <a:ext cx="5745749" cy="584775"/>
          </a:xfrm>
          <a:prstGeom prst="rect">
            <a:avLst/>
          </a:prstGeom>
          <a:noFill/>
        </p:spPr>
        <p:txBody>
          <a:bodyPr wrap="square" rtlCol="0">
            <a:spAutoFit/>
          </a:bodyPr>
          <a:lstStyle/>
          <a:p>
            <a:r>
              <a:t>Origins in China</a:t>
            </a:r>
          </a:p>
        </p:txBody>
      </p:sp>
      <p:sp>
        <p:nvSpPr>
          <p:cNvPr id="4" name="content3">
            <a:extLst>
              <a:ext uri="{FF2B5EF4-FFF2-40B4-BE49-F238E27FC236}">
                <a16:creationId xmlns:a16="http://schemas.microsoft.com/office/drawing/2014/main" id="{7ED6F132-1EC3-4F89-ACC9-391787BE6AE2}"/>
              </a:ext>
            </a:extLst>
          </p:cNvPr>
          <p:cNvSpPr txBox="1"/>
          <p:nvPr/>
        </p:nvSpPr>
        <p:spPr>
          <a:xfrm>
            <a:off x="415434" y="5525002"/>
            <a:ext cx="5647975" cy="646331"/>
          </a:xfrm>
          <a:prstGeom prst="rect">
            <a:avLst/>
          </a:prstGeom>
          <a:noFill/>
          <a:ln>
            <a:solidFill>
              <a:schemeClr val="bg1"/>
            </a:solidFill>
          </a:ln>
        </p:spPr>
        <p:txBody>
          <a:bodyPr wrap="square" rtlCol="0">
            <a:spAutoFit/>
          </a:bodyPr>
          <a:lstStyle/>
          <a:p>
            <a:r>
              <a:t>Ramen has evolved with plant-based options, self-heating packaging, and gourmet flavors, while regional styles in Japan highlight local ingredients and inspire international fusion dishes.</a:t>
            </a:r>
          </a:p>
        </p:txBody>
      </p:sp>
      <p:sp>
        <p:nvSpPr>
          <p:cNvPr id="5" name="head3">
            <a:extLst>
              <a:ext uri="{FF2B5EF4-FFF2-40B4-BE49-F238E27FC236}">
                <a16:creationId xmlns:a16="http://schemas.microsoft.com/office/drawing/2014/main" id="{1EC6BFD2-A54A-4CFB-BE32-CB35F7C65D66}"/>
              </a:ext>
            </a:extLst>
          </p:cNvPr>
          <p:cNvSpPr txBox="1"/>
          <p:nvPr/>
        </p:nvSpPr>
        <p:spPr>
          <a:xfrm>
            <a:off x="382842" y="4952327"/>
            <a:ext cx="5680567" cy="584775"/>
          </a:xfrm>
          <a:prstGeom prst="rect">
            <a:avLst/>
          </a:prstGeom>
          <a:noFill/>
        </p:spPr>
        <p:txBody>
          <a:bodyPr wrap="square" rtlCol="0">
            <a:spAutoFit/>
          </a:bodyPr>
          <a:lstStyle/>
          <a:p>
            <a:r>
              <a:t>Innovations and Variations</a:t>
            </a:r>
          </a:p>
        </p:txBody>
      </p:sp>
      <p:sp>
        <p:nvSpPr>
          <p:cNvPr id="6" name="content2">
            <a:extLst>
              <a:ext uri="{FF2B5EF4-FFF2-40B4-BE49-F238E27FC236}">
                <a16:creationId xmlns:a16="http://schemas.microsoft.com/office/drawing/2014/main" id="{228BCD66-C14B-42CD-A438-BC7AA99965CD}"/>
              </a:ext>
            </a:extLst>
          </p:cNvPr>
          <p:cNvSpPr txBox="1"/>
          <p:nvPr/>
        </p:nvSpPr>
        <p:spPr>
          <a:xfrm>
            <a:off x="6374296" y="3043533"/>
            <a:ext cx="5148396" cy="646331"/>
          </a:xfrm>
          <a:prstGeom prst="rect">
            <a:avLst/>
          </a:prstGeom>
          <a:noFill/>
          <a:ln>
            <a:solidFill>
              <a:schemeClr val="bg1"/>
            </a:solidFill>
          </a:ln>
        </p:spPr>
        <p:txBody>
          <a:bodyPr wrap="square" rtlCol="0">
            <a:spAutoFit/>
          </a:bodyPr>
          <a:lstStyle/>
          <a:p>
            <a:r>
              <a:t>The ramen market is expected to reach $84.99 billion by 2030, growing at a CAGR of 7.9%, fueled by rising demand for premium, healthier options and online retail expansion.</a:t>
            </a:r>
          </a:p>
        </p:txBody>
      </p:sp>
      <p:sp>
        <p:nvSpPr>
          <p:cNvPr id="7" name="head2">
            <a:extLst>
              <a:ext uri="{FF2B5EF4-FFF2-40B4-BE49-F238E27FC236}">
                <a16:creationId xmlns:a16="http://schemas.microsoft.com/office/drawing/2014/main" id="{CD5BF12C-71C8-4652-9154-19F255752D5D}"/>
              </a:ext>
            </a:extLst>
          </p:cNvPr>
          <p:cNvSpPr txBox="1"/>
          <p:nvPr/>
        </p:nvSpPr>
        <p:spPr>
          <a:xfrm>
            <a:off x="6341705" y="2441330"/>
            <a:ext cx="5180986" cy="584775"/>
          </a:xfrm>
          <a:prstGeom prst="rect">
            <a:avLst/>
          </a:prstGeom>
          <a:noFill/>
        </p:spPr>
        <p:txBody>
          <a:bodyPr wrap="square" rtlCol="0">
            <a:spAutoFit/>
          </a:bodyPr>
          <a:lstStyle/>
          <a:p>
            <a:r>
              <a:t>Global Market Growth</a:t>
            </a:r>
          </a:p>
        </p:txBody>
      </p:sp>
      <p:sp>
        <p:nvSpPr>
          <p:cNvPr id="9" name="head4">
            <a:extLst>
              <a:ext uri="{FF2B5EF4-FFF2-40B4-BE49-F238E27FC236}">
                <a16:creationId xmlns:a16="http://schemas.microsoft.com/office/drawing/2014/main" id="{B5F1E050-5BFC-480A-9E92-7665641E2034}"/>
              </a:ext>
            </a:extLst>
          </p:cNvPr>
          <p:cNvSpPr txBox="1"/>
          <p:nvPr/>
        </p:nvSpPr>
        <p:spPr>
          <a:xfrm>
            <a:off x="6341705" y="4952327"/>
            <a:ext cx="5180986" cy="584775"/>
          </a:xfrm>
          <a:prstGeom prst="rect">
            <a:avLst/>
          </a:prstGeom>
          <a:noFill/>
        </p:spPr>
        <p:txBody>
          <a:bodyPr wrap="square" rtlCol="0">
            <a:spAutoFit/>
          </a:bodyPr>
          <a:lstStyle/>
          <a:p>
            <a:r>
              <a:t>Cultural Impact in Japan</a:t>
            </a:r>
          </a:p>
        </p:txBody>
      </p:sp>
      <p:sp>
        <p:nvSpPr>
          <p:cNvPr id="21" name="content4">
            <a:extLst>
              <a:ext uri="{FF2B5EF4-FFF2-40B4-BE49-F238E27FC236}">
                <a16:creationId xmlns:a16="http://schemas.microsoft.com/office/drawing/2014/main" id="{CFBB8D88-C46B-4BFD-95E5-3CD2F79AB4A3}"/>
              </a:ext>
            </a:extLst>
          </p:cNvPr>
          <p:cNvSpPr txBox="1"/>
          <p:nvPr/>
        </p:nvSpPr>
        <p:spPr>
          <a:xfrm>
            <a:off x="6374296" y="5537102"/>
            <a:ext cx="5148396" cy="646331"/>
          </a:xfrm>
          <a:prstGeom prst="rect">
            <a:avLst/>
          </a:prstGeom>
          <a:noFill/>
          <a:ln>
            <a:solidFill>
              <a:schemeClr val="bg1"/>
            </a:solidFill>
          </a:ln>
        </p:spPr>
        <p:txBody>
          <a:bodyPr wrap="square" rtlCol="0">
            <a:spAutoFit/>
          </a:bodyPr>
          <a:lstStyle/>
          <a:p>
            <a:r>
              <a:t>The 1980s ramen boom in Japan led to the rise of dedicated restaurants and museums, cementing ramen's status as a culinary staple and influencing global culinary trends.</a:t>
            </a:r>
          </a:p>
        </p:txBody>
      </p:sp>
      <p:sp>
        <p:nvSpPr>
          <p:cNvPr id="27" name="subtopic">
            <a:extLst>
              <a:ext uri="{FF2B5EF4-FFF2-40B4-BE49-F238E27FC236}">
                <a16:creationId xmlns:a16="http://schemas.microsoft.com/office/drawing/2014/main" id="{1FC39E55-DAC2-4D18-8701-DF4E171179AC}"/>
              </a:ext>
            </a:extLst>
          </p:cNvPr>
          <p:cNvSpPr txBox="1"/>
          <p:nvPr/>
        </p:nvSpPr>
        <p:spPr>
          <a:xfrm>
            <a:off x="168257" y="330442"/>
            <a:ext cx="10563455" cy="646331"/>
          </a:xfrm>
          <a:prstGeom prst="rect">
            <a:avLst/>
          </a:prstGeom>
          <a:noFill/>
        </p:spPr>
        <p:txBody>
          <a:bodyPr wrap="square" rtlCol="0">
            <a:spAutoFit/>
          </a:bodyPr>
          <a:lstStyle/>
          <a:p>
            <a:r>
              <a:t>The Evolution of Ramen: From Traditional Roots to Global Phenomenon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ending">
            <a:extLst>
              <a:ext uri="{FF2B5EF4-FFF2-40B4-BE49-F238E27FC236}">
                <a16:creationId xmlns:a16="http://schemas.microsoft.com/office/drawing/2014/main" id="{3F2BFDD8-8459-4FE6-A381-38F0E1D8B287}"/>
              </a:ext>
            </a:extLst>
          </p:cNvPr>
          <p:cNvSpPr txBox="1"/>
          <p:nvPr/>
        </p:nvSpPr>
        <p:spPr>
          <a:xfrm>
            <a:off x="4097866" y="1117600"/>
            <a:ext cx="8094133" cy="830997"/>
          </a:xfrm>
          <a:prstGeom prst="rect">
            <a:avLst/>
          </a:prstGeom>
          <a:noFill/>
        </p:spPr>
        <p:txBody>
          <a:bodyPr wrap="square" rtlCol="0">
            <a:spAutoFit/>
          </a:bodyPr>
          <a:lstStyle/>
          <a:p>
            <a:r>
              <a:t>Ramen's journey from its origins to a global phenomenon showcases its rich cultural significance and ongoing evolution.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